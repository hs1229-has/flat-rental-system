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1371600"/>
            <a:ext cx="5486400" cy="274320"/>
          </a:xfrm>
          <a:prstGeom prst="rect">
            <a:avLst/>
          </a:prstGeom>
          <a:noFill/>
        </p:spPr>
        <p:txBody>
          <a:bodyPr wrap="square" lIns="0" tIns="0" rIns="0" bIns="0">
            <a:spAutoFit/>
          </a:bodyPr>
          <a:lstStyle/>
          <a:p>
            <a:pPr algn="l">
              <a:defRPr sz="1000" b="1">
                <a:solidFill>
                  <a:srgbClr val="38BDF8"/>
                </a:solidFill>
                <a:latin typeface="Segoe UI"/>
              </a:defRPr>
            </a:pPr>
            <a:r>
              <a:t>COFORGE GRADUATE ENGINEER TRAINEE PROJECT</a:t>
            </a:r>
          </a:p>
        </p:txBody>
      </p:sp>
      <p:sp>
        <p:nvSpPr>
          <p:cNvPr id="3" name="TextBox 2"/>
          <p:cNvSpPr txBox="1"/>
          <p:nvPr/>
        </p:nvSpPr>
        <p:spPr>
          <a:xfrm>
            <a:off x="731520" y="1645920"/>
            <a:ext cx="5486400" cy="914400"/>
          </a:xfrm>
          <a:prstGeom prst="rect">
            <a:avLst/>
          </a:prstGeom>
          <a:noFill/>
        </p:spPr>
        <p:txBody>
          <a:bodyPr wrap="square" lIns="0" tIns="0" rIns="0" bIns="0">
            <a:spAutoFit/>
          </a:bodyPr>
          <a:lstStyle/>
          <a:p>
            <a:pPr algn="l">
              <a:defRPr sz="5400" b="1">
                <a:solidFill>
                  <a:srgbClr val="F8FAFC"/>
                </a:solidFill>
                <a:latin typeface="Segoe UI"/>
              </a:defRPr>
            </a:pPr>
            <a:r>
              <a:t>LuxeFlats</a:t>
            </a:r>
          </a:p>
        </p:txBody>
      </p:sp>
      <p:sp>
        <p:nvSpPr>
          <p:cNvPr id="4" name="TextBox 3"/>
          <p:cNvSpPr txBox="1"/>
          <p:nvPr/>
        </p:nvSpPr>
        <p:spPr>
          <a:xfrm>
            <a:off x="731520" y="2560320"/>
            <a:ext cx="5486400" cy="457200"/>
          </a:xfrm>
          <a:prstGeom prst="rect">
            <a:avLst/>
          </a:prstGeom>
          <a:noFill/>
        </p:spPr>
        <p:txBody>
          <a:bodyPr wrap="square" lIns="0" tIns="0" rIns="0" bIns="0">
            <a:spAutoFit/>
          </a:bodyPr>
          <a:lstStyle/>
          <a:p>
            <a:pPr algn="l">
              <a:defRPr sz="2000" b="0">
                <a:solidFill>
                  <a:srgbClr val="94A3B8"/>
                </a:solidFill>
                <a:latin typeface="Segoe UI"/>
              </a:defRPr>
            </a:pPr>
            <a:r>
              <a:t>Flat Rental Microservices Platform</a:t>
            </a:r>
          </a:p>
        </p:txBody>
      </p:sp>
      <p:sp>
        <p:nvSpPr>
          <p:cNvPr id="5" name="Rounded Rectangle 4"/>
          <p:cNvSpPr/>
          <p:nvPr/>
        </p:nvSpPr>
        <p:spPr>
          <a:xfrm>
            <a:off x="731520" y="3291840"/>
            <a:ext cx="5303520" cy="1645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474720"/>
            <a:ext cx="4937760" cy="1280160"/>
          </a:xfrm>
          <a:prstGeom prst="rect">
            <a:avLst/>
          </a:prstGeom>
          <a:noFill/>
        </p:spPr>
        <p:txBody>
          <a:bodyPr wrap="square" lIns="0" tIns="0" rIns="0" bIns="0">
            <a:spAutoFit/>
          </a:bodyPr>
          <a:lstStyle/>
          <a:p>
            <a:pPr>
              <a:spcAft>
                <a:spcPts val="300"/>
              </a:spcAft>
              <a:defRPr sz="1200" b="1">
                <a:solidFill>
                  <a:srgbClr val="F8FAFC"/>
                </a:solidFill>
                <a:latin typeface="Segoe UI"/>
              </a:defRPr>
            </a:pPr>
            <a:r>
              <a:t>Project Metadata</a:t>
            </a:r>
          </a:p>
          <a:p>
            <a:pPr>
              <a:spcAft>
                <a:spcPts val="300"/>
              </a:spcAft>
              <a:defRPr sz="950">
                <a:solidFill>
                  <a:srgbClr val="94A3B8"/>
                </a:solidFill>
                <a:latin typeface="Segoe UI"/>
              </a:defRPr>
            </a:pPr>
            <a:r>
              <a:t>Presented By: Tanya Gupta, Harsh Sahu, Kshitij Goel</a:t>
            </a:r>
            <a:br/>
            <a:r>
              <a:t>Role: Graduate Engineer Trainee</a:t>
            </a:r>
            <a:br/>
            <a:r>
              <a:t>Technology Stack: Java | Spring Boot | React + Vite | MySQL</a:t>
            </a:r>
            <a:br/>
            <a:r>
              <a:t>Emp Code: 85011019</a:t>
            </a:r>
            <a:br/>
            <a:r>
              <a:t>Email: Tanya.Gupta@coforge.com</a:t>
            </a:r>
          </a:p>
        </p:txBody>
      </p:sp>
      <p:pic>
        <p:nvPicPr>
          <p:cNvPr id="7" name="Picture 6" descr="react_logo.png"/>
          <p:cNvPicPr>
            <a:picLocks noChangeAspect="1"/>
          </p:cNvPicPr>
          <p:nvPr/>
        </p:nvPicPr>
        <p:blipFill>
          <a:blip r:embed="rId2"/>
          <a:stretch>
            <a:fillRect/>
          </a:stretch>
        </p:blipFill>
        <p:spPr>
          <a:xfrm>
            <a:off x="731520" y="5120640"/>
            <a:ext cx="548640" cy="548640"/>
          </a:xfrm>
          <a:prstGeom prst="rect">
            <a:avLst/>
          </a:prstGeom>
        </p:spPr>
      </p:pic>
      <p:pic>
        <p:nvPicPr>
          <p:cNvPr id="8" name="Picture 7" descr="vite_logo.png"/>
          <p:cNvPicPr>
            <a:picLocks noChangeAspect="1"/>
          </p:cNvPicPr>
          <p:nvPr/>
        </p:nvPicPr>
        <p:blipFill>
          <a:blip r:embed="rId3"/>
          <a:stretch>
            <a:fillRect/>
          </a:stretch>
        </p:blipFill>
        <p:spPr>
          <a:xfrm>
            <a:off x="1463040" y="5120640"/>
            <a:ext cx="548640" cy="548640"/>
          </a:xfrm>
          <a:prstGeom prst="rect">
            <a:avLst/>
          </a:prstGeom>
        </p:spPr>
      </p:pic>
      <p:sp>
        <p:nvSpPr>
          <p:cNvPr id="9" name="Rounded Rectangle 8"/>
          <p:cNvSpPr/>
          <p:nvPr/>
        </p:nvSpPr>
        <p:spPr>
          <a:xfrm>
            <a:off x="6364224" y="1987391"/>
            <a:ext cx="5102352" cy="2883217"/>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age_1_img_2_Image14.jpg"/>
          <p:cNvPicPr>
            <a:picLocks noChangeAspect="1"/>
          </p:cNvPicPr>
          <p:nvPr/>
        </p:nvPicPr>
        <p:blipFill>
          <a:blip r:embed="rId4"/>
          <a:stretch>
            <a:fillRect/>
          </a:stretch>
        </p:blipFill>
        <p:spPr>
          <a:xfrm>
            <a:off x="6400800" y="2023967"/>
            <a:ext cx="5029200" cy="28100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Table of Contents</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2918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26080" cy="1828800"/>
          </a:xfrm>
          <a:prstGeom prst="rect">
            <a:avLst/>
          </a:prstGeom>
          <a:noFill/>
        </p:spPr>
        <p:txBody>
          <a:bodyPr wrap="square" lIns="0" tIns="0" rIns="0" bIns="0">
            <a:spAutoFit/>
          </a:bodyPr>
          <a:lstStyle/>
          <a:p>
            <a:pPr>
              <a:spcAft>
                <a:spcPts val="500"/>
              </a:spcAft>
              <a:defRPr sz="1150" b="1">
                <a:solidFill>
                  <a:srgbClr val="F8FAFC"/>
                </a:solidFill>
                <a:latin typeface="Segoe UI"/>
              </a:defRPr>
            </a:pPr>
            <a:r>
              <a:t>01. Project Overview</a:t>
            </a:r>
          </a:p>
          <a:p>
            <a:pPr>
              <a:spcAft>
                <a:spcPts val="500"/>
              </a:spcAft>
              <a:defRPr sz="1050">
                <a:solidFill>
                  <a:srgbClr val="94A3B8"/>
                </a:solidFill>
                <a:latin typeface="Segoe UI"/>
              </a:defRPr>
            </a:pPr>
            <a:r>
              <a:t>•  Introduction to the Flat Rental System</a:t>
            </a:r>
          </a:p>
          <a:p>
            <a:pPr>
              <a:spcAft>
                <a:spcPts val="500"/>
              </a:spcAft>
              <a:defRPr sz="1050">
                <a:solidFill>
                  <a:srgbClr val="94A3B8"/>
                </a:solidFill>
                <a:latin typeface="Segoe UI"/>
              </a:defRPr>
            </a:pPr>
            <a:r>
              <a:t>•  Problem statement and proposed solution</a:t>
            </a:r>
          </a:p>
          <a:p>
            <a:pPr>
              <a:spcAft>
                <a:spcPts val="500"/>
              </a:spcAft>
              <a:defRPr sz="1050">
                <a:solidFill>
                  <a:srgbClr val="94A3B8"/>
                </a:solidFill>
                <a:latin typeface="Segoe UI"/>
              </a:defRPr>
            </a:pPr>
            <a:r>
              <a:t>•  Key objectives and project scope</a:t>
            </a:r>
          </a:p>
        </p:txBody>
      </p:sp>
      <p:sp>
        <p:nvSpPr>
          <p:cNvPr id="7" name="Rounded Rectangle 6"/>
          <p:cNvSpPr/>
          <p:nvPr/>
        </p:nvSpPr>
        <p:spPr>
          <a:xfrm>
            <a:off x="4443984" y="1645920"/>
            <a:ext cx="32918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6864" y="1828800"/>
            <a:ext cx="2926080" cy="1828800"/>
          </a:xfrm>
          <a:prstGeom prst="rect">
            <a:avLst/>
          </a:prstGeom>
          <a:noFill/>
        </p:spPr>
        <p:txBody>
          <a:bodyPr wrap="square" lIns="0" tIns="0" rIns="0" bIns="0">
            <a:spAutoFit/>
          </a:bodyPr>
          <a:lstStyle/>
          <a:p>
            <a:pPr>
              <a:spcAft>
                <a:spcPts val="500"/>
              </a:spcAft>
              <a:defRPr sz="1150" b="1">
                <a:solidFill>
                  <a:srgbClr val="F8FAFC"/>
                </a:solidFill>
                <a:latin typeface="Segoe UI"/>
              </a:defRPr>
            </a:pPr>
            <a:r>
              <a:t>02. Technology &amp; Architecture</a:t>
            </a:r>
          </a:p>
          <a:p>
            <a:pPr>
              <a:spcAft>
                <a:spcPts val="500"/>
              </a:spcAft>
              <a:defRPr sz="1050">
                <a:solidFill>
                  <a:srgbClr val="94A3B8"/>
                </a:solidFill>
                <a:latin typeface="Segoe UI"/>
              </a:defRPr>
            </a:pPr>
            <a:r>
              <a:t>•  Technology Stack: Java, Spring Boot, React + Vite, MySQL</a:t>
            </a:r>
          </a:p>
          <a:p>
            <a:pPr>
              <a:spcAft>
                <a:spcPts val="500"/>
              </a:spcAft>
              <a:defRPr sz="1050">
                <a:solidFill>
                  <a:srgbClr val="94A3B8"/>
                </a:solidFill>
                <a:latin typeface="Segoe UI"/>
              </a:defRPr>
            </a:pPr>
            <a:r>
              <a:t>•  Microservices: User, Flat &amp; Rental Services</a:t>
            </a:r>
          </a:p>
          <a:p>
            <a:pPr>
              <a:spcAft>
                <a:spcPts val="500"/>
              </a:spcAft>
              <a:defRPr sz="1050">
                <a:solidFill>
                  <a:srgbClr val="94A3B8"/>
                </a:solidFill>
                <a:latin typeface="Segoe UI"/>
              </a:defRPr>
            </a:pPr>
            <a:r>
              <a:t>•  Architecture: Eureka Service Discovery + API Gateway</a:t>
            </a:r>
          </a:p>
        </p:txBody>
      </p:sp>
      <p:sp>
        <p:nvSpPr>
          <p:cNvPr id="9" name="Rounded Rectangle 8"/>
          <p:cNvSpPr/>
          <p:nvPr/>
        </p:nvSpPr>
        <p:spPr>
          <a:xfrm>
            <a:off x="8156448" y="1645920"/>
            <a:ext cx="32918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39328" y="1828800"/>
            <a:ext cx="2926080" cy="1828800"/>
          </a:xfrm>
          <a:prstGeom prst="rect">
            <a:avLst/>
          </a:prstGeom>
          <a:noFill/>
        </p:spPr>
        <p:txBody>
          <a:bodyPr wrap="square" lIns="0" tIns="0" rIns="0" bIns="0">
            <a:spAutoFit/>
          </a:bodyPr>
          <a:lstStyle/>
          <a:p>
            <a:pPr>
              <a:spcAft>
                <a:spcPts val="500"/>
              </a:spcAft>
              <a:defRPr sz="1150" b="1">
                <a:solidFill>
                  <a:srgbClr val="F8FAFC"/>
                </a:solidFill>
                <a:latin typeface="Segoe UI"/>
              </a:defRPr>
            </a:pPr>
            <a:r>
              <a:t>03. System Implementation</a:t>
            </a:r>
          </a:p>
          <a:p>
            <a:pPr>
              <a:spcAft>
                <a:spcPts val="500"/>
              </a:spcAft>
              <a:defRPr sz="1050">
                <a:solidFill>
                  <a:srgbClr val="94A3B8"/>
                </a:solidFill>
                <a:latin typeface="Segoe UI"/>
              </a:defRPr>
            </a:pPr>
            <a:r>
              <a:t>•  Development of REST APIs using Spring Boot</a:t>
            </a:r>
          </a:p>
          <a:p>
            <a:pPr>
              <a:spcAft>
                <a:spcPts val="500"/>
              </a:spcAft>
              <a:defRPr sz="1050">
                <a:solidFill>
                  <a:srgbClr val="94A3B8"/>
                </a:solidFill>
                <a:latin typeface="Segoe UI"/>
              </a:defRPr>
            </a:pPr>
            <a:r>
              <a:t>•  Integration of React + Vite frontend with backend</a:t>
            </a:r>
          </a:p>
          <a:p>
            <a:pPr>
              <a:spcAft>
                <a:spcPts val="500"/>
              </a:spcAft>
              <a:defRPr sz="1050">
                <a:solidFill>
                  <a:srgbClr val="94A3B8"/>
                </a:solidFill>
                <a:latin typeface="Segoe UI"/>
              </a:defRPr>
            </a:pPr>
            <a:r>
              <a:t>•  Database operations using MySQL and JPA/Hibernate</a:t>
            </a:r>
          </a:p>
        </p:txBody>
      </p:sp>
      <p:sp>
        <p:nvSpPr>
          <p:cNvPr id="11" name="Rounded Rectangle 10"/>
          <p:cNvSpPr/>
          <p:nvPr/>
        </p:nvSpPr>
        <p:spPr>
          <a:xfrm>
            <a:off x="731520" y="4023360"/>
            <a:ext cx="32918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06240"/>
            <a:ext cx="2926080" cy="1828800"/>
          </a:xfrm>
          <a:prstGeom prst="rect">
            <a:avLst/>
          </a:prstGeom>
          <a:noFill/>
        </p:spPr>
        <p:txBody>
          <a:bodyPr wrap="square" lIns="0" tIns="0" rIns="0" bIns="0">
            <a:spAutoFit/>
          </a:bodyPr>
          <a:lstStyle/>
          <a:p>
            <a:pPr>
              <a:spcAft>
                <a:spcPts val="500"/>
              </a:spcAft>
              <a:defRPr sz="1150" b="1">
                <a:solidFill>
                  <a:srgbClr val="F8FAFC"/>
                </a:solidFill>
                <a:latin typeface="Segoe UI"/>
              </a:defRPr>
            </a:pPr>
            <a:r>
              <a:t>04. Results &amp; Features</a:t>
            </a:r>
          </a:p>
          <a:p>
            <a:pPr>
              <a:spcAft>
                <a:spcPts val="500"/>
              </a:spcAft>
              <a:defRPr sz="1050">
                <a:solidFill>
                  <a:srgbClr val="94A3B8"/>
                </a:solidFill>
                <a:latin typeface="Segoe UI"/>
              </a:defRPr>
            </a:pPr>
            <a:r>
              <a:t>•  User, flat, and rental management</a:t>
            </a:r>
          </a:p>
          <a:p>
            <a:pPr>
              <a:spcAft>
                <a:spcPts val="500"/>
              </a:spcAft>
              <a:defRPr sz="1050">
                <a:solidFill>
                  <a:srgbClr val="94A3B8"/>
                </a:solidFill>
                <a:latin typeface="Segoe UI"/>
              </a:defRPr>
            </a:pPr>
            <a:r>
              <a:t>•  Flat availability and rental operations</a:t>
            </a:r>
          </a:p>
          <a:p>
            <a:pPr>
              <a:spcAft>
                <a:spcPts val="500"/>
              </a:spcAft>
              <a:defRPr sz="1050">
                <a:solidFill>
                  <a:srgbClr val="94A3B8"/>
                </a:solidFill>
                <a:latin typeface="Segoe UI"/>
              </a:defRPr>
            </a:pPr>
            <a:r>
              <a:t>•  Integrated frontend with microservices backend</a:t>
            </a:r>
          </a:p>
        </p:txBody>
      </p:sp>
      <p:sp>
        <p:nvSpPr>
          <p:cNvPr id="13" name="Rounded Rectangle 12"/>
          <p:cNvSpPr/>
          <p:nvPr/>
        </p:nvSpPr>
        <p:spPr>
          <a:xfrm>
            <a:off x="4443984" y="4023360"/>
            <a:ext cx="32918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6864" y="4206240"/>
            <a:ext cx="2926080" cy="1828800"/>
          </a:xfrm>
          <a:prstGeom prst="rect">
            <a:avLst/>
          </a:prstGeom>
          <a:noFill/>
        </p:spPr>
        <p:txBody>
          <a:bodyPr wrap="square" lIns="0" tIns="0" rIns="0" bIns="0">
            <a:spAutoFit/>
          </a:bodyPr>
          <a:lstStyle/>
          <a:p>
            <a:pPr>
              <a:spcAft>
                <a:spcPts val="500"/>
              </a:spcAft>
              <a:defRPr sz="1150" b="1">
                <a:solidFill>
                  <a:srgbClr val="F8FAFC"/>
                </a:solidFill>
                <a:latin typeface="Segoe UI"/>
              </a:defRPr>
            </a:pPr>
            <a:r>
              <a:t>05. Future Scope &amp; Conclusion</a:t>
            </a:r>
          </a:p>
          <a:p>
            <a:pPr>
              <a:spcAft>
                <a:spcPts val="500"/>
              </a:spcAft>
              <a:defRPr sz="1050">
                <a:solidFill>
                  <a:srgbClr val="94A3B8"/>
                </a:solidFill>
                <a:latin typeface="Segoe UI"/>
              </a:defRPr>
            </a:pPr>
            <a:r>
              <a:t>•  Add secure authentication and online payment</a:t>
            </a:r>
          </a:p>
          <a:p>
            <a:pPr>
              <a:spcAft>
                <a:spcPts val="500"/>
              </a:spcAft>
              <a:defRPr sz="1050">
                <a:solidFill>
                  <a:srgbClr val="94A3B8"/>
                </a:solidFill>
                <a:latin typeface="Segoe UI"/>
              </a:defRPr>
            </a:pPr>
            <a:r>
              <a:t>•  Enable Docker/Kubernetes and cloud scaling</a:t>
            </a:r>
          </a:p>
          <a:p>
            <a:pPr>
              <a:spcAft>
                <a:spcPts val="500"/>
              </a:spcAft>
              <a:defRPr sz="1050">
                <a:solidFill>
                  <a:srgbClr val="94A3B8"/>
                </a:solidFill>
                <a:latin typeface="Segoe UI"/>
              </a:defRPr>
            </a:pPr>
            <a:r>
              <a:t>•  Scalable architecture for future enhancements</a:t>
            </a:r>
          </a:p>
        </p:txBody>
      </p:sp>
      <p:sp>
        <p:nvSpPr>
          <p:cNvPr id="15" name="Rounded Rectangle 14"/>
          <p:cNvSpPr/>
          <p:nvPr/>
        </p:nvSpPr>
        <p:spPr>
          <a:xfrm>
            <a:off x="8156448" y="4023360"/>
            <a:ext cx="32918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8" y="4206240"/>
            <a:ext cx="2926080" cy="1828800"/>
          </a:xfrm>
          <a:prstGeom prst="rect">
            <a:avLst/>
          </a:prstGeom>
          <a:noFill/>
        </p:spPr>
        <p:txBody>
          <a:bodyPr wrap="square" lIns="0" tIns="0" rIns="0" bIns="0">
            <a:spAutoFit/>
          </a:bodyPr>
          <a:lstStyle/>
          <a:p>
            <a:pPr>
              <a:spcAft>
                <a:spcPts val="500"/>
              </a:spcAft>
              <a:defRPr sz="1150" b="1">
                <a:solidFill>
                  <a:srgbClr val="F8FAFC"/>
                </a:solidFill>
                <a:latin typeface="Segoe UI"/>
              </a:defRPr>
            </a:pPr>
            <a:r>
              <a:t>06. Testing &amp; Performance</a:t>
            </a:r>
          </a:p>
          <a:p>
            <a:pPr>
              <a:spcAft>
                <a:spcPts val="500"/>
              </a:spcAft>
              <a:defRPr sz="1050">
                <a:solidFill>
                  <a:srgbClr val="94A3B8"/>
                </a:solidFill>
                <a:latin typeface="Segoe UI"/>
              </a:defRPr>
            </a:pPr>
            <a:r>
              <a:t>•  API testing using Postman</a:t>
            </a:r>
          </a:p>
          <a:p>
            <a:pPr>
              <a:spcAft>
                <a:spcPts val="500"/>
              </a:spcAft>
              <a:defRPr sz="1050">
                <a:solidFill>
                  <a:srgbClr val="94A3B8"/>
                </a:solidFill>
                <a:latin typeface="Segoe UI"/>
              </a:defRPr>
            </a:pPr>
            <a:r>
              <a:t>•  Validation of service communication and database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Problem Statement &amp; Project Objectives</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1828800"/>
          </a:xfrm>
          <a:prstGeom prst="rect">
            <a:avLst/>
          </a:prstGeom>
          <a:noFill/>
        </p:spPr>
        <p:txBody>
          <a:bodyPr wrap="square" lIns="0" tIns="0" rIns="0" bIns="0">
            <a:spAutoFit/>
          </a:bodyPr>
          <a:lstStyle/>
          <a:p>
            <a:pPr>
              <a:spcAft>
                <a:spcPts val="500"/>
              </a:spcAft>
              <a:defRPr sz="1400" b="1">
                <a:solidFill>
                  <a:srgbClr val="F8FAFC"/>
                </a:solidFill>
                <a:latin typeface="Segoe UI"/>
              </a:defRPr>
            </a:pPr>
            <a:r>
              <a:t>The Problem</a:t>
            </a:r>
          </a:p>
          <a:p>
            <a:pPr>
              <a:spcAft>
                <a:spcPts val="500"/>
              </a:spcAft>
              <a:defRPr sz="1050">
                <a:solidFill>
                  <a:srgbClr val="94A3B8"/>
                </a:solidFill>
                <a:latin typeface="Segoe UI"/>
              </a:defRPr>
            </a:pPr>
            <a:r>
              <a:t>•  Traditional rental processes involve manual communication and scattered information.</a:t>
            </a:r>
          </a:p>
          <a:p>
            <a:pPr>
              <a:spcAft>
                <a:spcPts val="500"/>
              </a:spcAft>
              <a:defRPr sz="1050">
                <a:solidFill>
                  <a:srgbClr val="94A3B8"/>
                </a:solidFill>
                <a:latin typeface="Segoe UI"/>
              </a:defRPr>
            </a:pPr>
            <a:r>
              <a:t>•  Difficult to efficiently track flat availability and rental records.</a:t>
            </a:r>
          </a:p>
          <a:p>
            <a:pPr>
              <a:spcAft>
                <a:spcPts val="500"/>
              </a:spcAft>
              <a:defRPr sz="1050">
                <a:solidFill>
                  <a:srgbClr val="94A3B8"/>
                </a:solidFill>
                <a:latin typeface="Segoe UI"/>
              </a:defRPr>
            </a:pPr>
            <a:r>
              <a:t>•  Lack of a centralized platform for managing rental operations.</a:t>
            </a:r>
          </a:p>
        </p:txBody>
      </p:sp>
      <p:sp>
        <p:nvSpPr>
          <p:cNvPr id="7" name="Rounded Rectangle 6"/>
          <p:cNvSpPr/>
          <p:nvPr/>
        </p:nvSpPr>
        <p:spPr>
          <a:xfrm>
            <a:off x="731520" y="4114800"/>
            <a:ext cx="51206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297680"/>
            <a:ext cx="4754880" cy="1828800"/>
          </a:xfrm>
          <a:prstGeom prst="rect">
            <a:avLst/>
          </a:prstGeom>
          <a:noFill/>
        </p:spPr>
        <p:txBody>
          <a:bodyPr wrap="square" lIns="0" tIns="0" rIns="0" bIns="0">
            <a:spAutoFit/>
          </a:bodyPr>
          <a:lstStyle/>
          <a:p>
            <a:pPr>
              <a:spcAft>
                <a:spcPts val="500"/>
              </a:spcAft>
              <a:defRPr sz="1400" b="1">
                <a:solidFill>
                  <a:srgbClr val="F8FAFC"/>
                </a:solidFill>
                <a:latin typeface="Segoe UI"/>
              </a:defRPr>
            </a:pPr>
            <a:r>
              <a:t>Key Objectives</a:t>
            </a:r>
          </a:p>
          <a:p>
            <a:pPr>
              <a:spcAft>
                <a:spcPts val="500"/>
              </a:spcAft>
              <a:defRPr sz="1050">
                <a:solidFill>
                  <a:srgbClr val="94A3B8"/>
                </a:solidFill>
                <a:latin typeface="Segoe UI"/>
              </a:defRPr>
            </a:pPr>
            <a:r>
              <a:t>•  Simplify flat discovery and rental management.</a:t>
            </a:r>
          </a:p>
          <a:p>
            <a:pPr>
              <a:spcAft>
                <a:spcPts val="500"/>
              </a:spcAft>
              <a:defRPr sz="1050">
                <a:solidFill>
                  <a:srgbClr val="94A3B8"/>
                </a:solidFill>
                <a:latin typeface="Segoe UI"/>
              </a:defRPr>
            </a:pPr>
            <a:r>
              <a:t>•  Centralize user, flat, and rental information.</a:t>
            </a:r>
          </a:p>
          <a:p>
            <a:pPr>
              <a:spcAft>
                <a:spcPts val="500"/>
              </a:spcAft>
              <a:defRPr sz="1050">
                <a:solidFill>
                  <a:srgbClr val="94A3B8"/>
                </a:solidFill>
                <a:latin typeface="Segoe UI"/>
              </a:defRPr>
            </a:pPr>
            <a:r>
              <a:t>•  Build a scalable and maintainable microservices-based system.</a:t>
            </a:r>
          </a:p>
        </p:txBody>
      </p:sp>
      <p:sp>
        <p:nvSpPr>
          <p:cNvPr id="9" name="Rounded Rectangle 8"/>
          <p:cNvSpPr/>
          <p:nvPr/>
        </p:nvSpPr>
        <p:spPr>
          <a:xfrm>
            <a:off x="6247537" y="1609344"/>
            <a:ext cx="5152844" cy="4736592"/>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age_3_img_3_Image35.jpg"/>
          <p:cNvPicPr>
            <a:picLocks noChangeAspect="1"/>
          </p:cNvPicPr>
          <p:nvPr/>
        </p:nvPicPr>
        <p:blipFill>
          <a:blip r:embed="rId2"/>
          <a:stretch>
            <a:fillRect/>
          </a:stretch>
        </p:blipFill>
        <p:spPr>
          <a:xfrm>
            <a:off x="6284113" y="1645920"/>
            <a:ext cx="5079692" cy="46634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Overview &amp; Key Idea</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2377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2011680"/>
          </a:xfrm>
          <a:prstGeom prst="rect">
            <a:avLst/>
          </a:prstGeom>
          <a:noFill/>
        </p:spPr>
        <p:txBody>
          <a:bodyPr wrap="square" lIns="0" tIns="0" rIns="0" bIns="0">
            <a:spAutoFit/>
          </a:bodyPr>
          <a:lstStyle/>
          <a:p>
            <a:pPr>
              <a:spcAft>
                <a:spcPts val="500"/>
              </a:spcAft>
              <a:defRPr sz="1150" b="1">
                <a:solidFill>
                  <a:srgbClr val="F8FAFC"/>
                </a:solidFill>
                <a:latin typeface="Segoe UI"/>
              </a:defRPr>
            </a:pPr>
            <a:r>
              <a:t>System Definition</a:t>
            </a:r>
          </a:p>
          <a:p>
            <a:pPr>
              <a:spcAft>
                <a:spcPts val="500"/>
              </a:spcAft>
              <a:defRPr sz="1050">
                <a:solidFill>
                  <a:srgbClr val="94A3B8"/>
                </a:solidFill>
                <a:latin typeface="Segoe UI"/>
              </a:defRPr>
            </a:pPr>
            <a:r>
              <a:t>•  The Flat Rental System is a web-based application designed to simplify and manage the complete flat rental process.</a:t>
            </a:r>
          </a:p>
          <a:p>
            <a:pPr>
              <a:spcAft>
                <a:spcPts val="500"/>
              </a:spcAft>
              <a:defRPr sz="1050">
                <a:solidFill>
                  <a:srgbClr val="94A3B8"/>
                </a:solidFill>
                <a:latin typeface="Segoe UI"/>
              </a:defRPr>
            </a:pPr>
            <a:r>
              <a:t>•  A React + Vite frontend provides the user interface, while Spring Boot REST APIs handle backend operations.</a:t>
            </a:r>
          </a:p>
          <a:p>
            <a:pPr>
              <a:spcAft>
                <a:spcPts val="500"/>
              </a:spcAft>
              <a:defRPr sz="1050">
                <a:solidFill>
                  <a:srgbClr val="94A3B8"/>
                </a:solidFill>
                <a:latin typeface="Segoe UI"/>
              </a:defRPr>
            </a:pPr>
            <a:r>
              <a:t>•  It provides a centralized platform for managing users, flats, availability and rental information.</a:t>
            </a:r>
          </a:p>
          <a:p>
            <a:pPr>
              <a:spcAft>
                <a:spcPts val="500"/>
              </a:spcAft>
              <a:defRPr sz="1050">
                <a:solidFill>
                  <a:srgbClr val="94A3B8"/>
                </a:solidFill>
                <a:latin typeface="Segoe UI"/>
              </a:defRPr>
            </a:pPr>
            <a:r>
              <a:t>•  The system follows a microservices architecture, where different business functionalities are developed as independent services.</a:t>
            </a:r>
          </a:p>
        </p:txBody>
      </p:sp>
      <p:sp>
        <p:nvSpPr>
          <p:cNvPr id="7" name="Rounded Rectangle 6"/>
          <p:cNvSpPr/>
          <p:nvPr/>
        </p:nvSpPr>
        <p:spPr>
          <a:xfrm>
            <a:off x="731520" y="4206240"/>
            <a:ext cx="512064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389120"/>
            <a:ext cx="4754880" cy="1737360"/>
          </a:xfrm>
          <a:prstGeom prst="rect">
            <a:avLst/>
          </a:prstGeom>
          <a:noFill/>
        </p:spPr>
        <p:txBody>
          <a:bodyPr wrap="square" lIns="0" tIns="0" rIns="0" bIns="0">
            <a:spAutoFit/>
          </a:bodyPr>
          <a:lstStyle/>
          <a:p>
            <a:pPr>
              <a:spcAft>
                <a:spcPts val="500"/>
              </a:spcAft>
              <a:defRPr sz="1150" b="1">
                <a:solidFill>
                  <a:srgbClr val="F8FAFC"/>
                </a:solidFill>
                <a:latin typeface="Segoe UI"/>
              </a:defRPr>
            </a:pPr>
            <a:r>
              <a:t>Core Architecture Idea</a:t>
            </a:r>
          </a:p>
          <a:p>
            <a:pPr>
              <a:spcAft>
                <a:spcPts val="500"/>
              </a:spcAft>
              <a:defRPr sz="1050">
                <a:solidFill>
                  <a:srgbClr val="94A3B8"/>
                </a:solidFill>
                <a:latin typeface="Segoe UI"/>
              </a:defRPr>
            </a:pPr>
            <a:r>
              <a:t>•  Users interact with the system through the React + Vite application.</a:t>
            </a:r>
          </a:p>
          <a:p>
            <a:pPr>
              <a:spcAft>
                <a:spcPts val="500"/>
              </a:spcAft>
              <a:defRPr sz="1050">
                <a:solidFill>
                  <a:srgbClr val="94A3B8"/>
                </a:solidFill>
                <a:latin typeface="Segoe UI"/>
              </a:defRPr>
            </a:pPr>
            <a:r>
              <a:t>•  Requests are routed through the API Gateway to the appropriate microservice.</a:t>
            </a:r>
          </a:p>
          <a:p>
            <a:pPr>
              <a:spcAft>
                <a:spcPts val="500"/>
              </a:spcAft>
              <a:defRPr sz="1050">
                <a:solidFill>
                  <a:srgbClr val="94A3B8"/>
                </a:solidFill>
                <a:latin typeface="Segoe UI"/>
              </a:defRPr>
            </a:pPr>
            <a:r>
              <a:t>•  Eureka Server enables service discovery between the microservices.</a:t>
            </a:r>
          </a:p>
          <a:p>
            <a:pPr>
              <a:spcAft>
                <a:spcPts val="500"/>
              </a:spcAft>
              <a:defRPr sz="1050">
                <a:solidFill>
                  <a:srgbClr val="94A3B8"/>
                </a:solidFill>
                <a:latin typeface="Segoe UI"/>
              </a:defRPr>
            </a:pPr>
            <a:r>
              <a:t>•  Data is stored and managed using MySQL databases.</a:t>
            </a:r>
          </a:p>
        </p:txBody>
      </p:sp>
      <p:sp>
        <p:nvSpPr>
          <p:cNvPr id="9" name="Rounded Rectangle 8"/>
          <p:cNvSpPr/>
          <p:nvPr/>
        </p:nvSpPr>
        <p:spPr>
          <a:xfrm>
            <a:off x="6181344" y="2460507"/>
            <a:ext cx="5285232" cy="3034264"/>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age_12_img_2_Image67.jpg"/>
          <p:cNvPicPr>
            <a:picLocks noChangeAspect="1"/>
          </p:cNvPicPr>
          <p:nvPr/>
        </p:nvPicPr>
        <p:blipFill>
          <a:blip r:embed="rId2"/>
          <a:stretch>
            <a:fillRect/>
          </a:stretch>
        </p:blipFill>
        <p:spPr>
          <a:xfrm>
            <a:off x="6217920" y="2497083"/>
            <a:ext cx="5212080" cy="29611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Development Tools &amp; Environment Setup</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085875" y="1609344"/>
            <a:ext cx="7989769" cy="4005072"/>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5_img_2_Image42.jpg"/>
          <p:cNvPicPr>
            <a:picLocks noChangeAspect="1"/>
          </p:cNvPicPr>
          <p:nvPr/>
        </p:nvPicPr>
        <p:blipFill>
          <a:blip r:embed="rId2"/>
          <a:stretch>
            <a:fillRect/>
          </a:stretch>
        </p:blipFill>
        <p:spPr>
          <a:xfrm>
            <a:off x="2122451" y="1645920"/>
            <a:ext cx="7916617" cy="3931920"/>
          </a:xfrm>
          <a:prstGeom prst="rect">
            <a:avLst/>
          </a:prstGeom>
        </p:spPr>
      </p:pic>
      <p:sp>
        <p:nvSpPr>
          <p:cNvPr id="7" name="TextBox 6"/>
          <p:cNvSpPr txBox="1"/>
          <p:nvPr/>
        </p:nvSpPr>
        <p:spPr>
          <a:xfrm>
            <a:off x="1371600" y="5760720"/>
            <a:ext cx="9418320" cy="548640"/>
          </a:xfrm>
          <a:prstGeom prst="rect">
            <a:avLst/>
          </a:prstGeom>
          <a:noFill/>
        </p:spPr>
        <p:txBody>
          <a:bodyPr wrap="square" lIns="0" tIns="0" rIns="0" bIns="0">
            <a:spAutoFit/>
          </a:bodyPr>
          <a:lstStyle/>
          <a:p>
            <a:pPr algn="ctr">
              <a:defRPr sz="1150" b="0">
                <a:solidFill>
                  <a:srgbClr val="94A3B8"/>
                </a:solidFill>
                <a:latin typeface="Segoe UI"/>
              </a:defRPr>
            </a:pPr>
            <a:r>
              <a:t>Development Stack: Core Java -&gt; JDBC -&gt; SQL -&gt; JSP/Servlet -&gt; Spring Framework -&gt; Hibernate -&gt; Spring Boot.</a:t>
            </a:r>
            <a:br/>
            <a:r>
              <a:t>Deployment Pipeline: Basic Cloud Hosting (AWS/Azure/GCP) -&gt; Docker Containers -&gt; Kubernetes Orchestration.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Folder Directory Structure</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902046"/>
            <a:ext cx="5193792" cy="4151187"/>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6_img_2_Image45.png"/>
          <p:cNvPicPr>
            <a:picLocks noChangeAspect="1"/>
          </p:cNvPicPr>
          <p:nvPr/>
        </p:nvPicPr>
        <p:blipFill>
          <a:blip r:embed="rId2"/>
          <a:stretch>
            <a:fillRect/>
          </a:stretch>
        </p:blipFill>
        <p:spPr>
          <a:xfrm>
            <a:off x="731520" y="1938622"/>
            <a:ext cx="5120640" cy="4078035"/>
          </a:xfrm>
          <a:prstGeom prst="rect">
            <a:avLst/>
          </a:prstGeom>
        </p:spPr>
      </p:pic>
      <p:sp>
        <p:nvSpPr>
          <p:cNvPr id="7" name="Rounded Rectangle 6"/>
          <p:cNvSpPr/>
          <p:nvPr/>
        </p:nvSpPr>
        <p:spPr>
          <a:xfrm>
            <a:off x="6217920" y="164592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97680"/>
          </a:xfrm>
          <a:prstGeom prst="rect">
            <a:avLst/>
          </a:prstGeom>
          <a:noFill/>
        </p:spPr>
        <p:txBody>
          <a:bodyPr wrap="square" lIns="0" tIns="0" rIns="0" bIns="0">
            <a:spAutoFit/>
          </a:bodyPr>
          <a:lstStyle/>
          <a:p>
            <a:pPr>
              <a:spcAft>
                <a:spcPts val="800"/>
              </a:spcAft>
              <a:defRPr sz="1350" b="1">
                <a:solidFill>
                  <a:srgbClr val="F8FAFC"/>
                </a:solidFill>
                <a:latin typeface="Segoe UI"/>
              </a:defRPr>
            </a:pPr>
            <a:r>
              <a:t>Service Module Breakdown</a:t>
            </a:r>
          </a:p>
          <a:p>
            <a:pPr>
              <a:spcAft>
                <a:spcPts val="700"/>
              </a:spcAft>
              <a:defRPr sz="1100">
                <a:solidFill>
                  <a:srgbClr val="94A3B8"/>
                </a:solidFill>
                <a:latin typeface="Segoe UI"/>
              </a:defRPr>
            </a:pPr>
            <a:r>
              <a:t>•  api-gateway: Routes incoming client calls to targeted downstream ports.</a:t>
            </a:r>
          </a:p>
          <a:p>
            <a:pPr>
              <a:spcAft>
                <a:spcPts val="700"/>
              </a:spcAft>
              <a:defRPr sz="1100">
                <a:solidFill>
                  <a:srgbClr val="94A3B8"/>
                </a:solidFill>
                <a:latin typeface="Segoe UI"/>
              </a:defRPr>
            </a:pPr>
            <a:r>
              <a:t>•  flat-service (property-service): Manages flat properties data, images, and locality parameters.</a:t>
            </a:r>
          </a:p>
          <a:p>
            <a:pPr>
              <a:spcAft>
                <a:spcPts val="700"/>
              </a:spcAft>
              <a:defRPr sz="1100">
                <a:solidFill>
                  <a:srgbClr val="94A3B8"/>
                </a:solidFill>
                <a:latin typeface="Segoe UI"/>
              </a:defRPr>
            </a:pPr>
            <a:r>
              <a:t>•  rental-service (booking-service): Coordinates lease agreements, check-in validation, and state changes.</a:t>
            </a:r>
          </a:p>
          <a:p>
            <a:pPr>
              <a:spcAft>
                <a:spcPts val="700"/>
              </a:spcAft>
              <a:defRPr sz="1100">
                <a:solidFill>
                  <a:srgbClr val="94A3B8"/>
                </a:solidFill>
                <a:latin typeface="Segoe UI"/>
              </a:defRPr>
            </a:pPr>
            <a:r>
              <a:t>•  service-registry (eureka): Dynamic service discoverer mapping container IPs.</a:t>
            </a:r>
          </a:p>
          <a:p>
            <a:pPr>
              <a:spcAft>
                <a:spcPts val="700"/>
              </a:spcAft>
              <a:defRPr sz="1100">
                <a:solidFill>
                  <a:srgbClr val="94A3B8"/>
                </a:solidFill>
                <a:latin typeface="Segoe UI"/>
              </a:defRPr>
            </a:pPr>
            <a:r>
              <a:t>•  user-service (auth-service): Handles credential registration, password hashing, and user role records.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Technology Stack</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011680" cy="466344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645920" cy="4297680"/>
          </a:xfrm>
          <a:prstGeom prst="rect">
            <a:avLst/>
          </a:prstGeom>
          <a:noFill/>
        </p:spPr>
        <p:txBody>
          <a:bodyPr wrap="square" lIns="0" tIns="0" rIns="0" bIns="0">
            <a:spAutoFit/>
          </a:bodyPr>
          <a:lstStyle/>
          <a:p>
            <a:pPr>
              <a:spcAft>
                <a:spcPts val="800"/>
              </a:spcAft>
              <a:defRPr sz="1600" b="1">
                <a:solidFill>
                  <a:srgbClr val="F8FAFC"/>
                </a:solidFill>
                <a:latin typeface="Segoe UI"/>
              </a:defRPr>
            </a:pPr>
            <a:r>
              <a:t>FRONTEND</a:t>
            </a:r>
          </a:p>
          <a:p>
            <a:pPr>
              <a:spcAft>
                <a:spcPts val="700"/>
              </a:spcAft>
              <a:defRPr sz="1100">
                <a:solidFill>
                  <a:srgbClr val="94A3B8"/>
                </a:solidFill>
                <a:latin typeface="Segoe UI"/>
              </a:defRPr>
            </a:pPr>
            <a:r>
              <a:t>•  React</a:t>
            </a:r>
          </a:p>
          <a:p>
            <a:pPr>
              <a:spcAft>
                <a:spcPts val="700"/>
              </a:spcAft>
              <a:defRPr sz="1100">
                <a:solidFill>
                  <a:srgbClr val="94A3B8"/>
                </a:solidFill>
                <a:latin typeface="Segoe UI"/>
              </a:defRPr>
            </a:pPr>
            <a:r>
              <a:t>•  Vite</a:t>
            </a:r>
          </a:p>
          <a:p>
            <a:pPr>
              <a:spcAft>
                <a:spcPts val="700"/>
              </a:spcAft>
              <a:defRPr sz="1100">
                <a:solidFill>
                  <a:srgbClr val="94A3B8"/>
                </a:solidFill>
                <a:latin typeface="Segoe UI"/>
              </a:defRPr>
            </a:pPr>
            <a:r>
              <a:t>•  HTML5 &amp; CSS3</a:t>
            </a:r>
          </a:p>
          <a:p>
            <a:pPr>
              <a:spcAft>
                <a:spcPts val="700"/>
              </a:spcAft>
              <a:defRPr sz="1100">
                <a:solidFill>
                  <a:srgbClr val="94A3B8"/>
                </a:solidFill>
                <a:latin typeface="Segoe UI"/>
              </a:defRPr>
            </a:pPr>
            <a:r>
              <a:t>•  TypeScript</a:t>
            </a:r>
          </a:p>
          <a:p>
            <a:pPr>
              <a:spcAft>
                <a:spcPts val="700"/>
              </a:spcAft>
              <a:defRPr sz="1100">
                <a:solidFill>
                  <a:srgbClr val="94A3B8"/>
                </a:solidFill>
                <a:latin typeface="Segoe UI"/>
              </a:defRPr>
            </a:pPr>
            <a:r>
              <a:t>•  Axios Client</a:t>
            </a:r>
          </a:p>
        </p:txBody>
      </p:sp>
      <p:pic>
        <p:nvPicPr>
          <p:cNvPr id="7" name="Picture 6" descr="react_logo.png"/>
          <p:cNvPicPr>
            <a:picLocks noChangeAspect="1"/>
          </p:cNvPicPr>
          <p:nvPr/>
        </p:nvPicPr>
        <p:blipFill>
          <a:blip r:embed="rId2"/>
          <a:stretch>
            <a:fillRect/>
          </a:stretch>
        </p:blipFill>
        <p:spPr>
          <a:xfrm>
            <a:off x="1005840" y="5120640"/>
            <a:ext cx="548640" cy="548640"/>
          </a:xfrm>
          <a:prstGeom prst="rect">
            <a:avLst/>
          </a:prstGeom>
        </p:spPr>
      </p:pic>
      <p:pic>
        <p:nvPicPr>
          <p:cNvPr id="8" name="Picture 7" descr="vite_logo.png"/>
          <p:cNvPicPr>
            <a:picLocks noChangeAspect="1"/>
          </p:cNvPicPr>
          <p:nvPr/>
        </p:nvPicPr>
        <p:blipFill>
          <a:blip r:embed="rId3"/>
          <a:stretch>
            <a:fillRect/>
          </a:stretch>
        </p:blipFill>
        <p:spPr>
          <a:xfrm>
            <a:off x="1737360" y="5120640"/>
            <a:ext cx="548640" cy="548640"/>
          </a:xfrm>
          <a:prstGeom prst="rect">
            <a:avLst/>
          </a:prstGeom>
        </p:spPr>
      </p:pic>
      <p:sp>
        <p:nvSpPr>
          <p:cNvPr id="9" name="Rounded Rectangle 8"/>
          <p:cNvSpPr/>
          <p:nvPr/>
        </p:nvSpPr>
        <p:spPr>
          <a:xfrm>
            <a:off x="2907791" y="1645920"/>
            <a:ext cx="2011680" cy="466344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90671" y="1828800"/>
            <a:ext cx="1645920" cy="4297680"/>
          </a:xfrm>
          <a:prstGeom prst="rect">
            <a:avLst/>
          </a:prstGeom>
          <a:noFill/>
        </p:spPr>
        <p:txBody>
          <a:bodyPr wrap="square" lIns="0" tIns="0" rIns="0" bIns="0">
            <a:spAutoFit/>
          </a:bodyPr>
          <a:lstStyle/>
          <a:p>
            <a:pPr>
              <a:spcAft>
                <a:spcPts val="800"/>
              </a:spcAft>
              <a:defRPr sz="1600" b="1">
                <a:solidFill>
                  <a:srgbClr val="F8FAFC"/>
                </a:solidFill>
                <a:latin typeface="Segoe UI"/>
              </a:defRPr>
            </a:pPr>
            <a:r>
              <a:t>CLOUD &amp; INFRA</a:t>
            </a:r>
          </a:p>
          <a:p>
            <a:pPr>
              <a:spcAft>
                <a:spcPts val="800"/>
              </a:spcAft>
              <a:defRPr sz="1150">
                <a:solidFill>
                  <a:srgbClr val="94A3B8"/>
                </a:solidFill>
                <a:latin typeface="Segoe UI"/>
              </a:defRPr>
            </a:pPr>
            <a:r>
              <a:t>•  Spring Gateway</a:t>
            </a:r>
          </a:p>
          <a:p>
            <a:pPr>
              <a:spcAft>
                <a:spcPts val="800"/>
              </a:spcAft>
              <a:defRPr sz="1150">
                <a:solidFill>
                  <a:srgbClr val="94A3B8"/>
                </a:solidFill>
                <a:latin typeface="Segoe UI"/>
              </a:defRPr>
            </a:pPr>
            <a:r>
              <a:t>•  Eureka Server</a:t>
            </a:r>
          </a:p>
          <a:p>
            <a:pPr>
              <a:spcAft>
                <a:spcPts val="800"/>
              </a:spcAft>
              <a:defRPr sz="1150">
                <a:solidFill>
                  <a:srgbClr val="94A3B8"/>
                </a:solidFill>
                <a:latin typeface="Segoe UI"/>
              </a:defRPr>
            </a:pPr>
            <a:r>
              <a:t>•  OpenFeign Client</a:t>
            </a:r>
          </a:p>
          <a:p>
            <a:pPr>
              <a:spcAft>
                <a:spcPts val="800"/>
              </a:spcAft>
              <a:defRPr sz="1150">
                <a:solidFill>
                  <a:srgbClr val="94A3B8"/>
                </a:solidFill>
                <a:latin typeface="Segoe UI"/>
              </a:defRPr>
            </a:pPr>
            <a:r>
              <a:t>•  Cloud Service</a:t>
            </a:r>
          </a:p>
        </p:txBody>
      </p:sp>
      <p:sp>
        <p:nvSpPr>
          <p:cNvPr id="11" name="Rounded Rectangle 10"/>
          <p:cNvSpPr/>
          <p:nvPr/>
        </p:nvSpPr>
        <p:spPr>
          <a:xfrm>
            <a:off x="5084064" y="1645920"/>
            <a:ext cx="2011680" cy="466344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66944" y="1828800"/>
            <a:ext cx="1645920" cy="4297680"/>
          </a:xfrm>
          <a:prstGeom prst="rect">
            <a:avLst/>
          </a:prstGeom>
          <a:noFill/>
        </p:spPr>
        <p:txBody>
          <a:bodyPr wrap="square" lIns="0" tIns="0" rIns="0" bIns="0">
            <a:spAutoFit/>
          </a:bodyPr>
          <a:lstStyle/>
          <a:p>
            <a:pPr>
              <a:spcAft>
                <a:spcPts val="800"/>
              </a:spcAft>
              <a:defRPr sz="1600" b="1">
                <a:solidFill>
                  <a:srgbClr val="F8FAFC"/>
                </a:solidFill>
                <a:latin typeface="Segoe UI"/>
              </a:defRPr>
            </a:pPr>
            <a:r>
              <a:t>BACKEND</a:t>
            </a:r>
          </a:p>
          <a:p>
            <a:pPr>
              <a:spcAft>
                <a:spcPts val="800"/>
              </a:spcAft>
              <a:defRPr sz="1150">
                <a:solidFill>
                  <a:srgbClr val="94A3B8"/>
                </a:solidFill>
                <a:latin typeface="Segoe UI"/>
              </a:defRPr>
            </a:pPr>
            <a:r>
              <a:t>•  Java</a:t>
            </a:r>
          </a:p>
          <a:p>
            <a:pPr>
              <a:spcAft>
                <a:spcPts val="800"/>
              </a:spcAft>
              <a:defRPr sz="1150">
                <a:solidFill>
                  <a:srgbClr val="94A3B8"/>
                </a:solidFill>
                <a:latin typeface="Segoe UI"/>
              </a:defRPr>
            </a:pPr>
            <a:r>
              <a:t>•  Spring Boot</a:t>
            </a:r>
          </a:p>
          <a:p>
            <a:pPr>
              <a:spcAft>
                <a:spcPts val="800"/>
              </a:spcAft>
              <a:defRPr sz="1150">
                <a:solidFill>
                  <a:srgbClr val="94A3B8"/>
                </a:solidFill>
                <a:latin typeface="Segoe UI"/>
              </a:defRPr>
            </a:pPr>
            <a:r>
              <a:t>•  REST APIs</a:t>
            </a:r>
          </a:p>
          <a:p>
            <a:pPr>
              <a:spcAft>
                <a:spcPts val="800"/>
              </a:spcAft>
              <a:defRPr sz="1150">
                <a:solidFill>
                  <a:srgbClr val="94A3B8"/>
                </a:solidFill>
                <a:latin typeface="Segoe UI"/>
              </a:defRPr>
            </a:pPr>
            <a:r>
              <a:t>•  IOC Container</a:t>
            </a:r>
          </a:p>
        </p:txBody>
      </p:sp>
      <p:sp>
        <p:nvSpPr>
          <p:cNvPr id="13" name="Rounded Rectangle 12"/>
          <p:cNvSpPr/>
          <p:nvPr/>
        </p:nvSpPr>
        <p:spPr>
          <a:xfrm>
            <a:off x="7260336" y="1645920"/>
            <a:ext cx="2011680" cy="466344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43216" y="1828800"/>
            <a:ext cx="1645920" cy="4297680"/>
          </a:xfrm>
          <a:prstGeom prst="rect">
            <a:avLst/>
          </a:prstGeom>
          <a:noFill/>
        </p:spPr>
        <p:txBody>
          <a:bodyPr wrap="square" lIns="0" tIns="0" rIns="0" bIns="0">
            <a:spAutoFit/>
          </a:bodyPr>
          <a:lstStyle/>
          <a:p>
            <a:pPr>
              <a:spcAft>
                <a:spcPts val="800"/>
              </a:spcAft>
              <a:defRPr sz="1600" b="1">
                <a:solidFill>
                  <a:srgbClr val="F8FAFC"/>
                </a:solidFill>
                <a:latin typeface="Segoe UI"/>
              </a:defRPr>
            </a:pPr>
            <a:r>
              <a:t>PERSISTENCE</a:t>
            </a:r>
          </a:p>
          <a:p>
            <a:pPr>
              <a:spcAft>
                <a:spcPts val="800"/>
              </a:spcAft>
              <a:defRPr sz="1150">
                <a:solidFill>
                  <a:srgbClr val="94A3B8"/>
                </a:solidFill>
                <a:latin typeface="Segoe UI"/>
              </a:defRPr>
            </a:pPr>
            <a:r>
              <a:t>•  MySQL DB</a:t>
            </a:r>
          </a:p>
          <a:p>
            <a:pPr>
              <a:spcAft>
                <a:spcPts val="800"/>
              </a:spcAft>
              <a:defRPr sz="1150">
                <a:solidFill>
                  <a:srgbClr val="94A3B8"/>
                </a:solidFill>
                <a:latin typeface="Segoe UI"/>
              </a:defRPr>
            </a:pPr>
            <a:r>
              <a:t>•  Spring Data JPA</a:t>
            </a:r>
          </a:p>
          <a:p>
            <a:pPr>
              <a:spcAft>
                <a:spcPts val="800"/>
              </a:spcAft>
              <a:defRPr sz="1150">
                <a:solidFill>
                  <a:srgbClr val="94A3B8"/>
                </a:solidFill>
                <a:latin typeface="Segoe UI"/>
              </a:defRPr>
            </a:pPr>
            <a:r>
              <a:t>•  Hibernate ORM</a:t>
            </a:r>
          </a:p>
          <a:p>
            <a:pPr>
              <a:spcAft>
                <a:spcPts val="800"/>
              </a:spcAft>
              <a:defRPr sz="1150">
                <a:solidFill>
                  <a:srgbClr val="94A3B8"/>
                </a:solidFill>
                <a:latin typeface="Segoe UI"/>
              </a:defRPr>
            </a:pPr>
            <a:r>
              <a:t>•  Repositories</a:t>
            </a:r>
          </a:p>
        </p:txBody>
      </p:sp>
      <p:sp>
        <p:nvSpPr>
          <p:cNvPr id="15" name="Rounded Rectangle 14"/>
          <p:cNvSpPr/>
          <p:nvPr/>
        </p:nvSpPr>
        <p:spPr>
          <a:xfrm>
            <a:off x="9436608" y="1645920"/>
            <a:ext cx="2011680" cy="466344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19488" y="1828800"/>
            <a:ext cx="1645920" cy="4297680"/>
          </a:xfrm>
          <a:prstGeom prst="rect">
            <a:avLst/>
          </a:prstGeom>
          <a:noFill/>
        </p:spPr>
        <p:txBody>
          <a:bodyPr wrap="square" lIns="0" tIns="0" rIns="0" bIns="0">
            <a:spAutoFit/>
          </a:bodyPr>
          <a:lstStyle/>
          <a:p>
            <a:pPr>
              <a:spcAft>
                <a:spcPts val="800"/>
              </a:spcAft>
              <a:defRPr sz="1600" b="1">
                <a:solidFill>
                  <a:srgbClr val="F8FAFC"/>
                </a:solidFill>
                <a:latin typeface="Segoe UI"/>
              </a:defRPr>
            </a:pPr>
            <a:r>
              <a:t>DEV &amp; OPS</a:t>
            </a:r>
          </a:p>
          <a:p>
            <a:pPr>
              <a:spcAft>
                <a:spcPts val="800"/>
              </a:spcAft>
              <a:defRPr sz="1150">
                <a:solidFill>
                  <a:srgbClr val="94A3B8"/>
                </a:solidFill>
                <a:latin typeface="Segoe UI"/>
              </a:defRPr>
            </a:pPr>
            <a:r>
              <a:t>•  Maven Tool</a:t>
            </a:r>
          </a:p>
          <a:p>
            <a:pPr>
              <a:spcAft>
                <a:spcPts val="800"/>
              </a:spcAft>
              <a:defRPr sz="1150">
                <a:solidFill>
                  <a:srgbClr val="94A3B8"/>
                </a:solidFill>
                <a:latin typeface="Segoe UI"/>
              </a:defRPr>
            </a:pPr>
            <a:r>
              <a:t>•  Postman Test</a:t>
            </a:r>
          </a:p>
          <a:p>
            <a:pPr>
              <a:spcAft>
                <a:spcPts val="800"/>
              </a:spcAft>
              <a:defRPr sz="1150">
                <a:solidFill>
                  <a:srgbClr val="94A3B8"/>
                </a:solidFill>
                <a:latin typeface="Segoe UI"/>
              </a:defRPr>
            </a:pPr>
            <a:r>
              <a:t>•  Git / GitHub</a:t>
            </a:r>
          </a:p>
          <a:p>
            <a:pPr>
              <a:spcAft>
                <a:spcPts val="800"/>
              </a:spcAft>
              <a:defRPr sz="1150">
                <a:solidFill>
                  <a:srgbClr val="94A3B8"/>
                </a:solidFill>
                <a:latin typeface="Segoe UI"/>
              </a:defRPr>
            </a:pPr>
            <a:r>
              <a:t>•  Docker &amp; K8s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Flat Rental System - Core Management Flow</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546604" y="1609344"/>
            <a:ext cx="7068312" cy="4736592"/>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8_img_2_Image55.jpg"/>
          <p:cNvPicPr>
            <a:picLocks noChangeAspect="1"/>
          </p:cNvPicPr>
          <p:nvPr/>
        </p:nvPicPr>
        <p:blipFill>
          <a:blip r:embed="rId2"/>
          <a:stretch>
            <a:fillRect/>
          </a:stretch>
        </p:blipFill>
        <p:spPr>
          <a:xfrm>
            <a:off x="2583180" y="1645920"/>
            <a:ext cx="6995160" cy="46634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Microservices System Architecture</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0" y="1645920"/>
            <a:ext cx="3017520" cy="6400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React + Vite Frontend</a:t>
            </a:r>
            <a:br/>
            <a:r>
              <a:t>Port 5173</a:t>
            </a:r>
          </a:p>
        </p:txBody>
      </p:sp>
      <p:sp>
        <p:nvSpPr>
          <p:cNvPr id="6" name="Down Arrow 5"/>
          <p:cNvSpPr/>
          <p:nvPr/>
        </p:nvSpPr>
        <p:spPr>
          <a:xfrm>
            <a:off x="5989320" y="237744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0" y="2743200"/>
            <a:ext cx="3017520" cy="64008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API Gateway</a:t>
            </a:r>
            <a:br/>
            <a:r>
              <a:t>Port 8080</a:t>
            </a:r>
          </a:p>
        </p:txBody>
      </p:sp>
      <p:sp>
        <p:nvSpPr>
          <p:cNvPr id="8" name="Down Arrow 7"/>
          <p:cNvSpPr/>
          <p:nvPr/>
        </p:nvSpPr>
        <p:spPr>
          <a:xfrm>
            <a:off x="5989320" y="347472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0" y="3840480"/>
            <a:ext cx="8138160" cy="1828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wn Arrow 9"/>
          <p:cNvSpPr/>
          <p:nvPr/>
        </p:nvSpPr>
        <p:spPr>
          <a:xfrm>
            <a:off x="1920240" y="393192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5989320" y="393192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wn Arrow 11"/>
          <p:cNvSpPr/>
          <p:nvPr/>
        </p:nvSpPr>
        <p:spPr>
          <a:xfrm>
            <a:off x="10058400" y="393192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297680"/>
            <a:ext cx="2560320" cy="64008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User Service</a:t>
            </a:r>
            <a:br/>
            <a:r>
              <a:t>Port 8081</a:t>
            </a:r>
          </a:p>
        </p:txBody>
      </p:sp>
      <p:sp>
        <p:nvSpPr>
          <p:cNvPr id="14" name="Rounded Rectangle 13"/>
          <p:cNvSpPr/>
          <p:nvPr/>
        </p:nvSpPr>
        <p:spPr>
          <a:xfrm>
            <a:off x="4800600" y="4297680"/>
            <a:ext cx="2560320" cy="64008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Flat Service</a:t>
            </a:r>
            <a:br/>
            <a:r>
              <a:t>Port 8082</a:t>
            </a:r>
          </a:p>
        </p:txBody>
      </p:sp>
      <p:sp>
        <p:nvSpPr>
          <p:cNvPr id="15" name="Rounded Rectangle 14"/>
          <p:cNvSpPr/>
          <p:nvPr/>
        </p:nvSpPr>
        <p:spPr>
          <a:xfrm>
            <a:off x="8869680" y="4297680"/>
            <a:ext cx="2560320" cy="64008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Rental Service</a:t>
            </a:r>
            <a:br/>
            <a:r>
              <a:t>Port 8083</a:t>
            </a:r>
          </a:p>
        </p:txBody>
      </p:sp>
      <p:sp>
        <p:nvSpPr>
          <p:cNvPr id="16" name="Down Arrow 15"/>
          <p:cNvSpPr/>
          <p:nvPr/>
        </p:nvSpPr>
        <p:spPr>
          <a:xfrm>
            <a:off x="1920240" y="502920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wn Arrow 16"/>
          <p:cNvSpPr/>
          <p:nvPr/>
        </p:nvSpPr>
        <p:spPr>
          <a:xfrm>
            <a:off x="5989320" y="502920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wn Arrow 17"/>
          <p:cNvSpPr/>
          <p:nvPr/>
        </p:nvSpPr>
        <p:spPr>
          <a:xfrm>
            <a:off x="10058400" y="5029200"/>
            <a:ext cx="18288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5394960"/>
            <a:ext cx="2560320" cy="54864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User DB</a:t>
            </a:r>
            <a:br/>
            <a:r>
              <a:t>MySQL</a:t>
            </a:r>
          </a:p>
        </p:txBody>
      </p:sp>
      <p:sp>
        <p:nvSpPr>
          <p:cNvPr id="20" name="Rounded Rectangle 19"/>
          <p:cNvSpPr/>
          <p:nvPr/>
        </p:nvSpPr>
        <p:spPr>
          <a:xfrm>
            <a:off x="4800600" y="5394960"/>
            <a:ext cx="2560320" cy="54864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Flat DB</a:t>
            </a:r>
            <a:br/>
            <a:r>
              <a:t>MySQL</a:t>
            </a:r>
          </a:p>
        </p:txBody>
      </p:sp>
      <p:sp>
        <p:nvSpPr>
          <p:cNvPr id="21" name="Rounded Rectangle 20"/>
          <p:cNvSpPr/>
          <p:nvPr/>
        </p:nvSpPr>
        <p:spPr>
          <a:xfrm>
            <a:off x="8869680" y="5394960"/>
            <a:ext cx="2560320" cy="54864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Rental DB</a:t>
            </a:r>
            <a:br/>
            <a:r>
              <a:t>MySQL</a:t>
            </a:r>
          </a:p>
        </p:txBody>
      </p:sp>
      <p:sp>
        <p:nvSpPr>
          <p:cNvPr id="22" name="Rounded Rectangle 21"/>
          <p:cNvSpPr/>
          <p:nvPr/>
        </p:nvSpPr>
        <p:spPr>
          <a:xfrm>
            <a:off x="8869680" y="2194560"/>
            <a:ext cx="2560320" cy="822960"/>
          </a:xfrm>
          <a:prstGeom prst="roundRect">
            <a:avLst/>
          </a:prstGeom>
          <a:solidFill>
            <a:srgbClr val="1E293B"/>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8FAFC"/>
                </a:solidFill>
                <a:latin typeface="Segoe UI"/>
              </a:defRPr>
            </a:pPr>
            <a:r>
              <a:t>Eureka Server</a:t>
            </a:r>
            <a:br/>
            <a:r>
              <a:t>Port 8761</a:t>
            </a:r>
            <a:br/>
            <a:r>
              <a:t>(Service Registry)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Microservices Functional Mapping</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880855" y="1609344"/>
            <a:ext cx="6399809" cy="4736592"/>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10_img_2_Image61.jpg"/>
          <p:cNvPicPr>
            <a:picLocks noChangeAspect="1"/>
          </p:cNvPicPr>
          <p:nvPr/>
        </p:nvPicPr>
        <p:blipFill>
          <a:blip r:embed="rId2"/>
          <a:stretch>
            <a:fillRect/>
          </a:stretch>
        </p:blipFill>
        <p:spPr>
          <a:xfrm>
            <a:off x="2917431" y="1645920"/>
            <a:ext cx="6326657" cy="46634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Snapshots - User Registration</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46457" y="1609344"/>
            <a:ext cx="5313724" cy="4736592"/>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11_img_2_Image64.png"/>
          <p:cNvPicPr>
            <a:picLocks noChangeAspect="1"/>
          </p:cNvPicPr>
          <p:nvPr/>
        </p:nvPicPr>
        <p:blipFill>
          <a:blip r:embed="rId2"/>
          <a:stretch>
            <a:fillRect/>
          </a:stretch>
        </p:blipFill>
        <p:spPr>
          <a:xfrm>
            <a:off x="1083033" y="1645920"/>
            <a:ext cx="5240572" cy="4663440"/>
          </a:xfrm>
          <a:prstGeom prst="rect">
            <a:avLst/>
          </a:prstGeom>
        </p:spPr>
      </p:pic>
      <p:sp>
        <p:nvSpPr>
          <p:cNvPr id="7" name="Rounded Rectangle 6"/>
          <p:cNvSpPr/>
          <p:nvPr/>
        </p:nvSpPr>
        <p:spPr>
          <a:xfrm>
            <a:off x="7040880" y="1645920"/>
            <a:ext cx="438912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828800"/>
            <a:ext cx="4023360" cy="4297680"/>
          </a:xfrm>
          <a:prstGeom prst="rect">
            <a:avLst/>
          </a:prstGeom>
          <a:noFill/>
        </p:spPr>
        <p:txBody>
          <a:bodyPr wrap="square" lIns="0" tIns="0" rIns="0" bIns="0">
            <a:spAutoFit/>
          </a:bodyPr>
          <a:lstStyle/>
          <a:p>
            <a:pPr>
              <a:spcAft>
                <a:spcPts val="800"/>
              </a:spcAft>
              <a:defRPr sz="1350" b="1">
                <a:solidFill>
                  <a:srgbClr val="F8FAFC"/>
                </a:solidFill>
                <a:latin typeface="Segoe UI"/>
              </a:defRPr>
            </a:pPr>
            <a:r>
              <a:t>Registration Workflow</a:t>
            </a:r>
          </a:p>
          <a:p>
            <a:pPr>
              <a:spcAft>
                <a:spcPts val="800"/>
              </a:spcAft>
              <a:defRPr sz="1150">
                <a:solidFill>
                  <a:srgbClr val="94A3B8"/>
                </a:solidFill>
                <a:latin typeface="Segoe UI"/>
              </a:defRPr>
            </a:pPr>
            <a:r>
              <a:t>•  Provides a secure and intuitive user registration screen.</a:t>
            </a:r>
          </a:p>
          <a:p>
            <a:pPr>
              <a:spcAft>
                <a:spcPts val="800"/>
              </a:spcAft>
              <a:defRPr sz="1150">
                <a:solidFill>
                  <a:srgbClr val="94A3B8"/>
                </a:solidFill>
                <a:latin typeface="Segoe UI"/>
              </a:defRPr>
            </a:pPr>
            <a:r>
              <a:t>•  Differentiates between roles: Renting a property (Tenant) and Listing a property (Owner).</a:t>
            </a:r>
          </a:p>
          <a:p>
            <a:pPr>
              <a:spcAft>
                <a:spcPts val="800"/>
              </a:spcAft>
              <a:defRPr sz="1150">
                <a:solidFill>
                  <a:srgbClr val="94A3B8"/>
                </a:solidFill>
                <a:latin typeface="Segoe UI"/>
              </a:defRPr>
            </a:pPr>
            <a:r>
              <a:t>•  Validates fields client-side before forwarding HTTP requests to auth-service.</a:t>
            </a:r>
          </a:p>
          <a:p>
            <a:pPr>
              <a:spcAft>
                <a:spcPts val="800"/>
              </a:spcAft>
              <a:defRPr sz="1150">
                <a:solidFill>
                  <a:srgbClr val="94A3B8"/>
                </a:solidFill>
                <a:latin typeface="Segoe UI"/>
              </a:defRPr>
            </a:pPr>
            <a:r>
              <a:t>•  Standard credentials initialized for immediate end-to-end testing: tenant/password123, owner/password123.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Snapshots - Property Discovery</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2252710"/>
            <a:ext cx="6016752" cy="344985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12_img_2_Image67.jpg"/>
          <p:cNvPicPr>
            <a:picLocks noChangeAspect="1"/>
          </p:cNvPicPr>
          <p:nvPr/>
        </p:nvPicPr>
        <p:blipFill>
          <a:blip r:embed="rId2"/>
          <a:stretch>
            <a:fillRect/>
          </a:stretch>
        </p:blipFill>
        <p:spPr>
          <a:xfrm>
            <a:off x="731520" y="2289286"/>
            <a:ext cx="5943600" cy="3376707"/>
          </a:xfrm>
          <a:prstGeom prst="rect">
            <a:avLst/>
          </a:prstGeom>
        </p:spPr>
      </p:pic>
      <p:sp>
        <p:nvSpPr>
          <p:cNvPr id="7" name="Rounded Rectangle 6"/>
          <p:cNvSpPr/>
          <p:nvPr/>
        </p:nvSpPr>
        <p:spPr>
          <a:xfrm>
            <a:off x="7040880" y="1645920"/>
            <a:ext cx="438912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828800"/>
            <a:ext cx="4023360" cy="4297680"/>
          </a:xfrm>
          <a:prstGeom prst="rect">
            <a:avLst/>
          </a:prstGeom>
          <a:noFill/>
        </p:spPr>
        <p:txBody>
          <a:bodyPr wrap="square" lIns="0" tIns="0" rIns="0" bIns="0">
            <a:spAutoFit/>
          </a:bodyPr>
          <a:lstStyle/>
          <a:p>
            <a:pPr>
              <a:spcAft>
                <a:spcPts val="800"/>
              </a:spcAft>
              <a:defRPr sz="1350" b="1">
                <a:solidFill>
                  <a:srgbClr val="F8FAFC"/>
                </a:solidFill>
                <a:latin typeface="Segoe UI"/>
              </a:defRPr>
            </a:pPr>
            <a:r>
              <a:t>Properties Marketplace</a:t>
            </a:r>
          </a:p>
          <a:p>
            <a:pPr>
              <a:spcAft>
                <a:spcPts val="800"/>
              </a:spcAft>
              <a:defRPr sz="1150">
                <a:solidFill>
                  <a:srgbClr val="94A3B8"/>
                </a:solidFill>
                <a:latin typeface="Segoe UI"/>
              </a:defRPr>
            </a:pPr>
            <a:r>
              <a:t>•  Renders property listings inside glassmorphic layout cards.</a:t>
            </a:r>
          </a:p>
          <a:p>
            <a:pPr>
              <a:spcAft>
                <a:spcPts val="800"/>
              </a:spcAft>
              <a:defRPr sz="1150">
                <a:solidFill>
                  <a:srgbClr val="94A3B8"/>
                </a:solidFill>
                <a:latin typeface="Segoe UI"/>
              </a:defRPr>
            </a:pPr>
            <a:r>
              <a:t>•  Allows dynamic client-side filtering by: City/Locality, Property Type (Studio, 1 BHK, 2 BHK, etc.), Rent Budget range, and Furnishing status.</a:t>
            </a:r>
          </a:p>
          <a:p>
            <a:pPr>
              <a:spcAft>
                <a:spcPts val="800"/>
              </a:spcAft>
              <a:defRPr sz="1150">
                <a:solidFill>
                  <a:srgbClr val="94A3B8"/>
                </a:solidFill>
                <a:latin typeface="Segoe UI"/>
              </a:defRPr>
            </a:pPr>
            <a:r>
              <a:t>•  Displays responsive cards with price metrics, active amenities, and a link to view details.</a:t>
            </a:r>
          </a:p>
          <a:p>
            <a:pPr>
              <a:spcAft>
                <a:spcPts val="800"/>
              </a:spcAft>
              <a:defRPr sz="1150">
                <a:solidFill>
                  <a:srgbClr val="94A3B8"/>
                </a:solidFill>
                <a:latin typeface="Segoe UI"/>
              </a:defRPr>
            </a:pPr>
            <a:r>
              <a:t>•  Features realistic property images loaded dynamically from Unsplash CDNs.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Snapshots - Booking Requests</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2405014"/>
            <a:ext cx="6016752" cy="314525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_13_img_2_Image70.jpg"/>
          <p:cNvPicPr>
            <a:picLocks noChangeAspect="1"/>
          </p:cNvPicPr>
          <p:nvPr/>
        </p:nvPicPr>
        <p:blipFill>
          <a:blip r:embed="rId2"/>
          <a:stretch>
            <a:fillRect/>
          </a:stretch>
        </p:blipFill>
        <p:spPr>
          <a:xfrm>
            <a:off x="731520" y="2441590"/>
            <a:ext cx="5943600" cy="3072098"/>
          </a:xfrm>
          <a:prstGeom prst="rect">
            <a:avLst/>
          </a:prstGeom>
        </p:spPr>
      </p:pic>
      <p:sp>
        <p:nvSpPr>
          <p:cNvPr id="7" name="Rounded Rectangle 6"/>
          <p:cNvSpPr/>
          <p:nvPr/>
        </p:nvSpPr>
        <p:spPr>
          <a:xfrm>
            <a:off x="7040880" y="1645920"/>
            <a:ext cx="438912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828800"/>
            <a:ext cx="4023360" cy="4297680"/>
          </a:xfrm>
          <a:prstGeom prst="rect">
            <a:avLst/>
          </a:prstGeom>
          <a:noFill/>
        </p:spPr>
        <p:txBody>
          <a:bodyPr wrap="square" lIns="0" tIns="0" rIns="0" bIns="0">
            <a:spAutoFit/>
          </a:bodyPr>
          <a:lstStyle/>
          <a:p>
            <a:pPr>
              <a:spcAft>
                <a:spcPts val="800"/>
              </a:spcAft>
              <a:defRPr sz="1350" b="1">
                <a:solidFill>
                  <a:srgbClr val="F8FAFC"/>
                </a:solidFill>
                <a:latin typeface="Segoe UI"/>
              </a:defRPr>
            </a:pPr>
            <a:r>
              <a:t>Booking stays Flow</a:t>
            </a:r>
          </a:p>
          <a:p>
            <a:pPr>
              <a:spcAft>
                <a:spcPts val="800"/>
              </a:spcAft>
              <a:defRPr sz="1150">
                <a:solidFill>
                  <a:srgbClr val="94A3B8"/>
                </a:solidFill>
                <a:latin typeface="Segoe UI"/>
              </a:defRPr>
            </a:pPr>
            <a:r>
              <a:t>•  Allows tenants to pick custom move-in/move-out dates on an interactive calendar.</a:t>
            </a:r>
          </a:p>
          <a:p>
            <a:pPr>
              <a:spcAft>
                <a:spcPts val="800"/>
              </a:spcAft>
              <a:defRPr sz="1150">
                <a:solidFill>
                  <a:srgbClr val="94A3B8"/>
                </a:solidFill>
                <a:latin typeface="Segoe UI"/>
              </a:defRPr>
            </a:pPr>
            <a:r>
              <a:t>•  Automatically displays property pricing parameters, including monthly rent and security deposits.</a:t>
            </a:r>
          </a:p>
          <a:p>
            <a:pPr>
              <a:spcAft>
                <a:spcPts val="800"/>
              </a:spcAft>
              <a:defRPr sz="1150">
                <a:solidFill>
                  <a:srgbClr val="94A3B8"/>
                </a:solidFill>
                <a:latin typeface="Segoe UI"/>
              </a:defRPr>
            </a:pPr>
            <a:r>
              <a:t>•  Triggers validation on dates (move-out must be after check-in, check-in must be present/future).</a:t>
            </a:r>
          </a:p>
          <a:p>
            <a:pPr>
              <a:spcAft>
                <a:spcPts val="800"/>
              </a:spcAft>
              <a:defRPr sz="1150">
                <a:solidFill>
                  <a:srgbClr val="94A3B8"/>
                </a:solidFill>
                <a:latin typeface="Segoe UI"/>
              </a:defRPr>
            </a:pPr>
            <a:r>
              <a:t>•  Saves the initial contract with status PENDING, waiting for owner approval.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Testing &amp; Performance Overview</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120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46320" cy="1737360"/>
          </a:xfrm>
          <a:prstGeom prst="rect">
            <a:avLst/>
          </a:prstGeom>
          <a:noFill/>
        </p:spPr>
        <p:txBody>
          <a:bodyPr wrap="square" lIns="0" tIns="0" rIns="0" bIns="0">
            <a:spAutoFit/>
          </a:bodyPr>
          <a:lstStyle/>
          <a:p>
            <a:pPr>
              <a:spcAft>
                <a:spcPts val="500"/>
              </a:spcAft>
              <a:defRPr sz="1400" b="1">
                <a:solidFill>
                  <a:srgbClr val="F8FAFC"/>
                </a:solidFill>
                <a:latin typeface="Segoe UI"/>
              </a:defRPr>
            </a:pPr>
            <a:r>
              <a:t>API Testing</a:t>
            </a:r>
          </a:p>
          <a:p>
            <a:pPr>
              <a:spcAft>
                <a:spcPts val="500"/>
              </a:spcAft>
              <a:defRPr sz="1050">
                <a:solidFill>
                  <a:srgbClr val="94A3B8"/>
                </a:solidFill>
                <a:latin typeface="Segoe UI"/>
              </a:defRPr>
            </a:pPr>
            <a:r>
              <a:t>•  Tested REST APIs using Postman</a:t>
            </a:r>
          </a:p>
          <a:p>
            <a:pPr>
              <a:spcAft>
                <a:spcPts val="500"/>
              </a:spcAft>
              <a:defRPr sz="1050">
                <a:solidFill>
                  <a:srgbClr val="94A3B8"/>
                </a:solidFill>
                <a:latin typeface="Segoe UI"/>
              </a:defRPr>
            </a:pPr>
            <a:r>
              <a:t>•  Verified GET, POST, PUT, and DELETE operations</a:t>
            </a:r>
          </a:p>
          <a:p>
            <a:pPr>
              <a:spcAft>
                <a:spcPts val="500"/>
              </a:spcAft>
              <a:defRPr sz="1050">
                <a:solidFill>
                  <a:srgbClr val="94A3B8"/>
                </a:solidFill>
                <a:latin typeface="Segoe UI"/>
              </a:defRPr>
            </a:pPr>
            <a:r>
              <a:t>•  Checked HTTP response codes and response DTO schemas</a:t>
            </a:r>
          </a:p>
        </p:txBody>
      </p:sp>
      <p:sp>
        <p:nvSpPr>
          <p:cNvPr id="7" name="Rounded Rectangle 6"/>
          <p:cNvSpPr/>
          <p:nvPr/>
        </p:nvSpPr>
        <p:spPr>
          <a:xfrm>
            <a:off x="6217920" y="1645920"/>
            <a:ext cx="52120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1737360"/>
          </a:xfrm>
          <a:prstGeom prst="rect">
            <a:avLst/>
          </a:prstGeom>
          <a:noFill/>
        </p:spPr>
        <p:txBody>
          <a:bodyPr wrap="square" lIns="0" tIns="0" rIns="0" bIns="0">
            <a:spAutoFit/>
          </a:bodyPr>
          <a:lstStyle/>
          <a:p>
            <a:pPr>
              <a:spcAft>
                <a:spcPts val="500"/>
              </a:spcAft>
              <a:defRPr sz="1150" b="1">
                <a:solidFill>
                  <a:srgbClr val="F8FAFC"/>
                </a:solidFill>
                <a:latin typeface="Segoe UI"/>
              </a:defRPr>
            </a:pPr>
            <a:r>
              <a:t>Integration Testing</a:t>
            </a:r>
          </a:p>
          <a:p>
            <a:pPr>
              <a:spcAft>
                <a:spcPts val="500"/>
              </a:spcAft>
              <a:defRPr sz="1050">
                <a:solidFill>
                  <a:srgbClr val="94A3B8"/>
                </a:solidFill>
                <a:latin typeface="Segoe UI"/>
              </a:defRPr>
            </a:pPr>
            <a:r>
              <a:t>•  Verified communication between React + Vite and Spring Boot</a:t>
            </a:r>
          </a:p>
          <a:p>
            <a:pPr>
              <a:spcAft>
                <a:spcPts val="500"/>
              </a:spcAft>
              <a:defRPr sz="1050">
                <a:solidFill>
                  <a:srgbClr val="94A3B8"/>
                </a:solidFill>
                <a:latin typeface="Segoe UI"/>
              </a:defRPr>
            </a:pPr>
            <a:r>
              <a:t>•  Validated API Gateway dynamic request routing</a:t>
            </a:r>
          </a:p>
          <a:p>
            <a:pPr>
              <a:spcAft>
                <a:spcPts val="500"/>
              </a:spcAft>
              <a:defRPr sz="1050">
                <a:solidFill>
                  <a:srgbClr val="94A3B8"/>
                </a:solidFill>
                <a:latin typeface="Segoe UI"/>
              </a:defRPr>
            </a:pPr>
            <a:r>
              <a:t>•  Confirmed microservice registry with Eureka Server</a:t>
            </a:r>
          </a:p>
        </p:txBody>
      </p:sp>
      <p:sp>
        <p:nvSpPr>
          <p:cNvPr id="9" name="Rounded Rectangle 8"/>
          <p:cNvSpPr/>
          <p:nvPr/>
        </p:nvSpPr>
        <p:spPr>
          <a:xfrm>
            <a:off x="731520" y="4114800"/>
            <a:ext cx="52120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97680"/>
            <a:ext cx="4846320" cy="1737360"/>
          </a:xfrm>
          <a:prstGeom prst="rect">
            <a:avLst/>
          </a:prstGeom>
          <a:noFill/>
        </p:spPr>
        <p:txBody>
          <a:bodyPr wrap="square" lIns="0" tIns="0" rIns="0" bIns="0">
            <a:spAutoFit/>
          </a:bodyPr>
          <a:lstStyle/>
          <a:p>
            <a:pPr>
              <a:spcAft>
                <a:spcPts val="500"/>
              </a:spcAft>
              <a:defRPr sz="1400" b="1">
                <a:solidFill>
                  <a:srgbClr val="F8FAFC"/>
                </a:solidFill>
                <a:latin typeface="Segoe UI"/>
              </a:defRPr>
            </a:pPr>
            <a:r>
              <a:t>Database Testing</a:t>
            </a:r>
          </a:p>
          <a:p>
            <a:pPr>
              <a:spcAft>
                <a:spcPts val="500"/>
              </a:spcAft>
              <a:defRPr sz="1050">
                <a:solidFill>
                  <a:srgbClr val="94A3B8"/>
                </a:solidFill>
                <a:latin typeface="Segoe UI"/>
              </a:defRPr>
            </a:pPr>
            <a:r>
              <a:t>•  Verified CRUD operations directly inside MySQL</a:t>
            </a:r>
          </a:p>
          <a:p>
            <a:pPr>
              <a:spcAft>
                <a:spcPts val="500"/>
              </a:spcAft>
              <a:defRPr sz="1050">
                <a:solidFill>
                  <a:srgbClr val="94A3B8"/>
                </a:solidFill>
                <a:latin typeface="Segoe UI"/>
              </a:defRPr>
            </a:pPr>
            <a:r>
              <a:t>•  Validated Hibernate-based insertion, retrieval, and updates</a:t>
            </a:r>
          </a:p>
          <a:p>
            <a:pPr>
              <a:spcAft>
                <a:spcPts val="500"/>
              </a:spcAft>
              <a:defRPr sz="1050">
                <a:solidFill>
                  <a:srgbClr val="94A3B8"/>
                </a:solidFill>
                <a:latin typeface="Segoe UI"/>
              </a:defRPr>
            </a:pPr>
            <a:r>
              <a:t>•  Ensured API payloads matched MySQL table records</a:t>
            </a:r>
          </a:p>
        </p:txBody>
      </p:sp>
      <p:sp>
        <p:nvSpPr>
          <p:cNvPr id="11" name="Rounded Rectangle 10"/>
          <p:cNvSpPr/>
          <p:nvPr/>
        </p:nvSpPr>
        <p:spPr>
          <a:xfrm>
            <a:off x="6217920" y="4114800"/>
            <a:ext cx="52120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97680"/>
            <a:ext cx="4846320" cy="1737360"/>
          </a:xfrm>
          <a:prstGeom prst="rect">
            <a:avLst/>
          </a:prstGeom>
          <a:noFill/>
        </p:spPr>
        <p:txBody>
          <a:bodyPr wrap="square" lIns="0" tIns="0" rIns="0" bIns="0">
            <a:spAutoFit/>
          </a:bodyPr>
          <a:lstStyle/>
          <a:p>
            <a:pPr>
              <a:spcAft>
                <a:spcPts val="500"/>
              </a:spcAft>
              <a:defRPr sz="1150" b="1">
                <a:solidFill>
                  <a:srgbClr val="F8FAFC"/>
                </a:solidFill>
                <a:latin typeface="Segoe UI"/>
              </a:defRPr>
            </a:pPr>
            <a:r>
              <a:t>Performance &amp; Reliability</a:t>
            </a:r>
          </a:p>
          <a:p>
            <a:pPr>
              <a:spcAft>
                <a:spcPts val="500"/>
              </a:spcAft>
              <a:defRPr sz="1050">
                <a:solidFill>
                  <a:srgbClr val="94A3B8"/>
                </a:solidFill>
                <a:latin typeface="Segoe UI"/>
              </a:defRPr>
            </a:pPr>
            <a:r>
              <a:t>•  Independent services minimize module-to-module dependencies</a:t>
            </a:r>
          </a:p>
          <a:p>
            <a:pPr>
              <a:spcAft>
                <a:spcPts val="500"/>
              </a:spcAft>
              <a:defRPr sz="1050">
                <a:solidFill>
                  <a:srgbClr val="94A3B8"/>
                </a:solidFill>
                <a:latin typeface="Segoe UI"/>
              </a:defRPr>
            </a:pPr>
            <a:r>
              <a:t>•  Centralized gateway routing simplifies CORS and filter configs</a:t>
            </a:r>
          </a:p>
          <a:p>
            <a:pPr>
              <a:spcAft>
                <a:spcPts val="500"/>
              </a:spcAft>
              <a:defRPr sz="1050">
                <a:solidFill>
                  <a:srgbClr val="94A3B8"/>
                </a:solidFill>
                <a:latin typeface="Segoe UI"/>
              </a:defRPr>
            </a:pPr>
            <a:r>
              <a:t>•  Microservices architecture allows services to scale independently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API Validation &amp; Testing Approach</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97680"/>
          </a:xfrm>
          <a:prstGeom prst="rect">
            <a:avLst/>
          </a:prstGeom>
          <a:noFill/>
        </p:spPr>
        <p:txBody>
          <a:bodyPr wrap="square" lIns="0" tIns="0" rIns="0" bIns="0">
            <a:spAutoFit/>
          </a:bodyPr>
          <a:lstStyle/>
          <a:p>
            <a:pPr>
              <a:spcAft>
                <a:spcPts val="800"/>
              </a:spcAft>
              <a:defRPr sz="1350" b="1">
                <a:solidFill>
                  <a:srgbClr val="F8FAFC"/>
                </a:solidFill>
                <a:latin typeface="Segoe UI"/>
              </a:defRPr>
            </a:pPr>
            <a:r>
              <a:t>API Testing Overview</a:t>
            </a:r>
          </a:p>
          <a:p>
            <a:pPr>
              <a:spcAft>
                <a:spcPts val="800"/>
              </a:spcAft>
              <a:defRPr sz="1150">
                <a:solidFill>
                  <a:srgbClr val="94A3B8"/>
                </a:solidFill>
                <a:latin typeface="Segoe UI"/>
              </a:defRPr>
            </a:pPr>
            <a:r>
              <a:t>•  API Testing is a software testing approach that focuses on validating the functionality, reliability, performance, and security of Application Programming Interfaces (APIs).</a:t>
            </a:r>
          </a:p>
          <a:p>
            <a:pPr>
              <a:spcAft>
                <a:spcPts val="800"/>
              </a:spcAft>
              <a:defRPr sz="1150">
                <a:solidFill>
                  <a:srgbClr val="94A3B8"/>
                </a:solidFill>
                <a:latin typeface="Segoe UI"/>
              </a:defRPr>
            </a:pPr>
            <a:r>
              <a:t>•  Unlike GUI testing, API testing verifies the communication between different software components by sending requests and validating responses without interacting with the user interface.</a:t>
            </a:r>
          </a:p>
          <a:p>
            <a:pPr>
              <a:spcAft>
                <a:spcPts val="800"/>
              </a:spcAft>
              <a:defRPr sz="1150">
                <a:solidFill>
                  <a:srgbClr val="94A3B8"/>
                </a:solidFill>
                <a:latin typeface="Segoe UI"/>
              </a:defRPr>
            </a:pPr>
            <a:r>
              <a:t>•  It ensures that APIs function correctly, exchange accurate data, and meet the specified business and technical requirements. Popular tools such as Postman, Rest Assured, and JMeter are widely used for API testing.</a:t>
            </a:r>
          </a:p>
        </p:txBody>
      </p:sp>
      <p:sp>
        <p:nvSpPr>
          <p:cNvPr id="7" name="Rounded Rectangle 6"/>
          <p:cNvSpPr/>
          <p:nvPr/>
        </p:nvSpPr>
        <p:spPr>
          <a:xfrm>
            <a:off x="6217920" y="164592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97680"/>
          </a:xfrm>
          <a:prstGeom prst="rect">
            <a:avLst/>
          </a:prstGeom>
          <a:noFill/>
        </p:spPr>
        <p:txBody>
          <a:bodyPr wrap="square" lIns="0" tIns="0" rIns="0" bIns="0">
            <a:spAutoFit/>
          </a:bodyPr>
          <a:lstStyle/>
          <a:p>
            <a:pPr>
              <a:spcAft>
                <a:spcPts val="800"/>
              </a:spcAft>
              <a:defRPr sz="1350" b="1">
                <a:solidFill>
                  <a:srgbClr val="F8FAFC"/>
                </a:solidFill>
                <a:latin typeface="Segoe UI"/>
              </a:defRPr>
            </a:pPr>
            <a:r>
              <a:t>Importance of API Testing</a:t>
            </a:r>
          </a:p>
          <a:p>
            <a:pPr>
              <a:spcAft>
                <a:spcPts val="700"/>
              </a:spcAft>
              <a:defRPr sz="1100">
                <a:solidFill>
                  <a:srgbClr val="94A3B8"/>
                </a:solidFill>
                <a:latin typeface="Segoe UI"/>
              </a:defRPr>
            </a:pPr>
            <a:r>
              <a:t>•  Validates the functionality and reliability of APIs.</a:t>
            </a:r>
          </a:p>
          <a:p>
            <a:pPr>
              <a:spcAft>
                <a:spcPts val="700"/>
              </a:spcAft>
              <a:defRPr sz="1100">
                <a:solidFill>
                  <a:srgbClr val="94A3B8"/>
                </a:solidFill>
                <a:latin typeface="Segoe UI"/>
              </a:defRPr>
            </a:pPr>
            <a:r>
              <a:t>•  Ensures accurate data exchange between applications.</a:t>
            </a:r>
          </a:p>
          <a:p>
            <a:pPr>
              <a:spcAft>
                <a:spcPts val="700"/>
              </a:spcAft>
              <a:defRPr sz="1100">
                <a:solidFill>
                  <a:srgbClr val="94A3B8"/>
                </a:solidFill>
                <a:latin typeface="Segoe UI"/>
              </a:defRPr>
            </a:pPr>
            <a:r>
              <a:t>•  Detects defects early before the user interface is developed.</a:t>
            </a:r>
          </a:p>
          <a:p>
            <a:pPr>
              <a:spcAft>
                <a:spcPts val="700"/>
              </a:spcAft>
              <a:defRPr sz="1100">
                <a:solidFill>
                  <a:srgbClr val="94A3B8"/>
                </a:solidFill>
                <a:latin typeface="Segoe UI"/>
              </a:defRPr>
            </a:pPr>
            <a:r>
              <a:t>•  Improves application performance and response validation.</a:t>
            </a:r>
          </a:p>
          <a:p>
            <a:pPr>
              <a:spcAft>
                <a:spcPts val="700"/>
              </a:spcAft>
              <a:defRPr sz="1100">
                <a:solidFill>
                  <a:srgbClr val="94A3B8"/>
                </a:solidFill>
                <a:latin typeface="Segoe UI"/>
              </a:defRPr>
            </a:pPr>
            <a:r>
              <a:t>•  Supports functional, regression, and integration testing.</a:t>
            </a:r>
          </a:p>
          <a:p>
            <a:pPr>
              <a:spcAft>
                <a:spcPts val="700"/>
              </a:spcAft>
              <a:defRPr sz="1100">
                <a:solidFill>
                  <a:srgbClr val="94A3B8"/>
                </a:solidFill>
                <a:latin typeface="Segoe UI"/>
              </a:defRPr>
            </a:pPr>
            <a:r>
              <a:t>•  Enhances software quality by verifying API contracts and business logic.</a:t>
            </a:r>
          </a:p>
          <a:p>
            <a:pPr>
              <a:spcAft>
                <a:spcPts val="700"/>
              </a:spcAft>
              <a:defRPr sz="1100">
                <a:solidFill>
                  <a:srgbClr val="94A3B8"/>
                </a:solidFill>
                <a:latin typeface="Segoe UI"/>
              </a:defRPr>
            </a:pPr>
            <a:r>
              <a:t>•  Facilitates Continuous Integration and Continuous Delivery (CI/CD) through automated API testing.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API Validation - GET Request</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1148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749040" cy="4297680"/>
          </a:xfrm>
          <a:prstGeom prst="rect">
            <a:avLst/>
          </a:prstGeom>
          <a:noFill/>
        </p:spPr>
        <p:txBody>
          <a:bodyPr wrap="square" lIns="0" tIns="0" rIns="0" bIns="0">
            <a:spAutoFit/>
          </a:bodyPr>
          <a:lstStyle/>
          <a:p>
            <a:pPr>
              <a:spcAft>
                <a:spcPts val="800"/>
              </a:spcAft>
              <a:defRPr sz="1350" b="1">
                <a:solidFill>
                  <a:srgbClr val="F8FAFC"/>
                </a:solidFill>
                <a:latin typeface="Segoe UI"/>
              </a:defRPr>
            </a:pPr>
            <a:r>
              <a:t>Postman GET Request Analysis</a:t>
            </a:r>
          </a:p>
          <a:p>
            <a:pPr>
              <a:spcAft>
                <a:spcPts val="800"/>
              </a:spcAft>
              <a:defRPr sz="1150">
                <a:solidFill>
                  <a:srgbClr val="94A3B8"/>
                </a:solidFill>
                <a:latin typeface="Segoe UI"/>
              </a:defRPr>
            </a:pPr>
            <a:r>
              <a:t>Used to retrieve resources or data lists from a specified URL endpoint without modifying any database records.</a:t>
            </a:r>
          </a:p>
        </p:txBody>
      </p:sp>
      <p:sp>
        <p:nvSpPr>
          <p:cNvPr id="7" name="Rounded Rectangle 6"/>
          <p:cNvSpPr/>
          <p:nvPr/>
        </p:nvSpPr>
        <p:spPr>
          <a:xfrm>
            <a:off x="5175504" y="2108258"/>
            <a:ext cx="6291072" cy="3738763"/>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_16_img_2_Image82.png"/>
          <p:cNvPicPr>
            <a:picLocks noChangeAspect="1"/>
          </p:cNvPicPr>
          <p:nvPr/>
        </p:nvPicPr>
        <p:blipFill>
          <a:blip r:embed="rId2"/>
          <a:stretch>
            <a:fillRect/>
          </a:stretch>
        </p:blipFill>
        <p:spPr>
          <a:xfrm>
            <a:off x="5212080" y="2144834"/>
            <a:ext cx="6217920" cy="366561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API Validation - POST Request</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1148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749040" cy="4297680"/>
          </a:xfrm>
          <a:prstGeom prst="rect">
            <a:avLst/>
          </a:prstGeom>
          <a:noFill/>
        </p:spPr>
        <p:txBody>
          <a:bodyPr wrap="square" lIns="0" tIns="0" rIns="0" bIns="0">
            <a:spAutoFit/>
          </a:bodyPr>
          <a:lstStyle/>
          <a:p>
            <a:pPr>
              <a:spcAft>
                <a:spcPts val="800"/>
              </a:spcAft>
              <a:defRPr sz="1350" b="1">
                <a:solidFill>
                  <a:srgbClr val="F8FAFC"/>
                </a:solidFill>
                <a:latin typeface="Segoe UI"/>
              </a:defRPr>
            </a:pPr>
            <a:r>
              <a:t>Postman POST Request Analysis</a:t>
            </a:r>
          </a:p>
          <a:p>
            <a:pPr>
              <a:spcAft>
                <a:spcPts val="800"/>
              </a:spcAft>
              <a:defRPr sz="1150">
                <a:solidFill>
                  <a:srgbClr val="94A3B8"/>
                </a:solidFill>
                <a:latin typeface="Segoe UI"/>
              </a:defRPr>
            </a:pPr>
            <a:r>
              <a:t>Used to submit data payloads to create new resources on the server, resulting in a database insertion (returns 201 Created).</a:t>
            </a:r>
          </a:p>
        </p:txBody>
      </p:sp>
      <p:sp>
        <p:nvSpPr>
          <p:cNvPr id="7" name="Rounded Rectangle 6"/>
          <p:cNvSpPr/>
          <p:nvPr/>
        </p:nvSpPr>
        <p:spPr>
          <a:xfrm>
            <a:off x="5175504" y="2120822"/>
            <a:ext cx="6291072" cy="3713634"/>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_17_img_2_Image85.png"/>
          <p:cNvPicPr>
            <a:picLocks noChangeAspect="1"/>
          </p:cNvPicPr>
          <p:nvPr/>
        </p:nvPicPr>
        <p:blipFill>
          <a:blip r:embed="rId2"/>
          <a:stretch>
            <a:fillRect/>
          </a:stretch>
        </p:blipFill>
        <p:spPr>
          <a:xfrm>
            <a:off x="5212080" y="2157398"/>
            <a:ext cx="6217920" cy="364048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API Validation - PUT Request</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1148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749040" cy="4297680"/>
          </a:xfrm>
          <a:prstGeom prst="rect">
            <a:avLst/>
          </a:prstGeom>
          <a:noFill/>
        </p:spPr>
        <p:txBody>
          <a:bodyPr wrap="square" lIns="0" tIns="0" rIns="0" bIns="0">
            <a:spAutoFit/>
          </a:bodyPr>
          <a:lstStyle/>
          <a:p>
            <a:pPr>
              <a:spcAft>
                <a:spcPts val="800"/>
              </a:spcAft>
              <a:defRPr sz="1350" b="1">
                <a:solidFill>
                  <a:srgbClr val="F8FAFC"/>
                </a:solidFill>
                <a:latin typeface="Segoe UI"/>
              </a:defRPr>
            </a:pPr>
            <a:r>
              <a:t>Postman PUT Request Analysis</a:t>
            </a:r>
          </a:p>
          <a:p>
            <a:pPr>
              <a:spcAft>
                <a:spcPts val="800"/>
              </a:spcAft>
              <a:defRPr sz="1150">
                <a:solidFill>
                  <a:srgbClr val="94A3B8"/>
                </a:solidFill>
                <a:latin typeface="Segoe UI"/>
              </a:defRPr>
            </a:pPr>
            <a:r>
              <a:t>Used to update an existing resource with a complete new representation payload, replacing the database row fields.</a:t>
            </a:r>
          </a:p>
        </p:txBody>
      </p:sp>
      <p:sp>
        <p:nvSpPr>
          <p:cNvPr id="7" name="Rounded Rectangle 6"/>
          <p:cNvSpPr/>
          <p:nvPr/>
        </p:nvSpPr>
        <p:spPr>
          <a:xfrm>
            <a:off x="5175504" y="2061857"/>
            <a:ext cx="6291072" cy="3831565"/>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_18_img_2_Image89.png"/>
          <p:cNvPicPr>
            <a:picLocks noChangeAspect="1"/>
          </p:cNvPicPr>
          <p:nvPr/>
        </p:nvPicPr>
        <p:blipFill>
          <a:blip r:embed="rId2"/>
          <a:stretch>
            <a:fillRect/>
          </a:stretch>
        </p:blipFill>
        <p:spPr>
          <a:xfrm>
            <a:off x="5212080" y="2098433"/>
            <a:ext cx="6217920" cy="375841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API Validation - DELETE Request</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1148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749040" cy="4297680"/>
          </a:xfrm>
          <a:prstGeom prst="rect">
            <a:avLst/>
          </a:prstGeom>
          <a:noFill/>
        </p:spPr>
        <p:txBody>
          <a:bodyPr wrap="square" lIns="0" tIns="0" rIns="0" bIns="0">
            <a:spAutoFit/>
          </a:bodyPr>
          <a:lstStyle/>
          <a:p>
            <a:pPr>
              <a:spcAft>
                <a:spcPts val="800"/>
              </a:spcAft>
              <a:defRPr sz="1350" b="1">
                <a:solidFill>
                  <a:srgbClr val="F8FAFC"/>
                </a:solidFill>
                <a:latin typeface="Segoe UI"/>
              </a:defRPr>
            </a:pPr>
            <a:r>
              <a:t>Postman DELETE Request Analysis</a:t>
            </a:r>
          </a:p>
          <a:p>
            <a:pPr>
              <a:spcAft>
                <a:spcPts val="800"/>
              </a:spcAft>
              <a:defRPr sz="1150">
                <a:solidFill>
                  <a:srgbClr val="94A3B8"/>
                </a:solidFill>
                <a:latin typeface="Segoe UI"/>
              </a:defRPr>
            </a:pPr>
            <a:r>
              <a:t>Used to remove a specific resource from the database based on target ID parameters (returns 204 No Content).</a:t>
            </a:r>
          </a:p>
        </p:txBody>
      </p:sp>
      <p:sp>
        <p:nvSpPr>
          <p:cNvPr id="7" name="Rounded Rectangle 6"/>
          <p:cNvSpPr/>
          <p:nvPr/>
        </p:nvSpPr>
        <p:spPr>
          <a:xfrm>
            <a:off x="5175504" y="2094365"/>
            <a:ext cx="6291072" cy="3766548"/>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_19_img_2_Image93.png"/>
          <p:cNvPicPr>
            <a:picLocks noChangeAspect="1"/>
          </p:cNvPicPr>
          <p:nvPr/>
        </p:nvPicPr>
        <p:blipFill>
          <a:blip r:embed="rId2"/>
          <a:stretch>
            <a:fillRect/>
          </a:stretch>
        </p:blipFill>
        <p:spPr>
          <a:xfrm>
            <a:off x="5212080" y="2130941"/>
            <a:ext cx="6217920" cy="369339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lgn="l">
              <a:defRPr sz="900" b="1">
                <a:solidFill>
                  <a:srgbClr val="38BDF8"/>
                </a:solidFill>
                <a:latin typeface="Segoe UI"/>
              </a:defRPr>
            </a:pPr>
            <a:r>
              <a:t>LUXEFLATS - FLAT RENTAL SYSTEM</a:t>
            </a:r>
          </a:p>
        </p:txBody>
      </p:sp>
      <p:sp>
        <p:nvSpPr>
          <p:cNvPr id="3" name="TextBox 2"/>
          <p:cNvSpPr txBox="1"/>
          <p:nvPr/>
        </p:nvSpPr>
        <p:spPr>
          <a:xfrm>
            <a:off x="731520" y="640080"/>
            <a:ext cx="9144000" cy="548640"/>
          </a:xfrm>
          <a:prstGeom prst="rect">
            <a:avLst/>
          </a:prstGeom>
          <a:noFill/>
        </p:spPr>
        <p:txBody>
          <a:bodyPr wrap="square" lIns="0" tIns="0" rIns="0" bIns="0">
            <a:spAutoFit/>
          </a:bodyPr>
          <a:lstStyle/>
          <a:p>
            <a:pPr algn="l">
              <a:defRPr sz="2400" b="1">
                <a:solidFill>
                  <a:srgbClr val="F8FAFC"/>
                </a:solidFill>
                <a:latin typeface="Segoe UI"/>
              </a:defRPr>
            </a:pPr>
            <a:r>
              <a:t>Project Conclusion &amp; Takeaways</a:t>
            </a:r>
          </a:p>
        </p:txBody>
      </p:sp>
      <p:sp>
        <p:nvSpPr>
          <p:cNvPr id="4" name="Rectangle 3"/>
          <p:cNvSpPr/>
          <p:nvPr/>
        </p:nvSpPr>
        <p:spPr>
          <a:xfrm>
            <a:off x="731520" y="1234440"/>
            <a:ext cx="10725912"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4864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5120640" cy="4297680"/>
          </a:xfrm>
          <a:prstGeom prst="rect">
            <a:avLst/>
          </a:prstGeom>
          <a:noFill/>
        </p:spPr>
        <p:txBody>
          <a:bodyPr wrap="square" lIns="0" tIns="0" rIns="0" bIns="0">
            <a:spAutoFit/>
          </a:bodyPr>
          <a:lstStyle/>
          <a:p>
            <a:pPr>
              <a:spcAft>
                <a:spcPts val="800"/>
              </a:spcAft>
              <a:defRPr sz="1350" b="1">
                <a:solidFill>
                  <a:srgbClr val="F8FAFC"/>
                </a:solidFill>
                <a:latin typeface="Segoe UI"/>
              </a:defRPr>
            </a:pPr>
            <a:r>
              <a:t>Key Accomplishments</a:t>
            </a:r>
          </a:p>
          <a:p>
            <a:pPr>
              <a:spcAft>
                <a:spcPts val="700"/>
              </a:spcAft>
              <a:defRPr sz="1100">
                <a:solidFill>
                  <a:srgbClr val="94A3B8"/>
                </a:solidFill>
                <a:latin typeface="Segoe UI"/>
              </a:defRPr>
            </a:pPr>
            <a:r>
              <a:t>•  Developed a highly modular, microservices-based Flat Rental System for managing users, flats, and bookings.</a:t>
            </a:r>
          </a:p>
          <a:p>
            <a:pPr>
              <a:spcAft>
                <a:spcPts val="700"/>
              </a:spcAft>
              <a:defRPr sz="1100">
                <a:solidFill>
                  <a:srgbClr val="94A3B8"/>
                </a:solidFill>
                <a:latin typeface="Segoe UI"/>
              </a:defRPr>
            </a:pPr>
            <a:r>
              <a:t>•  Successfully implemented User, Flat, and Rental Services using independent Spring Boot applications.</a:t>
            </a:r>
          </a:p>
          <a:p>
            <a:pPr>
              <a:spcAft>
                <a:spcPts val="700"/>
              </a:spcAft>
              <a:defRPr sz="1100">
                <a:solidFill>
                  <a:srgbClr val="94A3B8"/>
                </a:solidFill>
                <a:latin typeface="Segoe UI"/>
              </a:defRPr>
            </a:pPr>
            <a:r>
              <a:t>•  Integrated the frontend using React + Vite, API Gateway routing, Eureka service registry, and MySQL databases.</a:t>
            </a:r>
          </a:p>
          <a:p>
            <a:pPr>
              <a:spcAft>
                <a:spcPts val="700"/>
              </a:spcAft>
              <a:defRPr sz="1100">
                <a:solidFill>
                  <a:srgbClr val="94A3B8"/>
                </a:solidFill>
                <a:latin typeface="Segoe UI"/>
              </a:defRPr>
            </a:pPr>
            <a:r>
              <a:t>•  Verified all endpoints, security filters, and inter-service communications using Postman.</a:t>
            </a:r>
          </a:p>
          <a:p>
            <a:pPr>
              <a:spcAft>
                <a:spcPts val="700"/>
              </a:spcAft>
              <a:defRPr sz="1100">
                <a:solidFill>
                  <a:srgbClr val="94A3B8"/>
                </a:solidFill>
                <a:latin typeface="Segoe UI"/>
              </a:defRPr>
            </a:pPr>
            <a:r>
              <a:t>•  Provides a highly scalable, maintainable, and robust architecture suited for cloud deployment.</a:t>
            </a:r>
          </a:p>
        </p:txBody>
      </p:sp>
      <p:sp>
        <p:nvSpPr>
          <p:cNvPr id="7" name="Rounded Rectangle 6"/>
          <p:cNvSpPr/>
          <p:nvPr/>
        </p:nvSpPr>
        <p:spPr>
          <a:xfrm>
            <a:off x="6547104" y="2587123"/>
            <a:ext cx="4919472" cy="2781033"/>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_1_img_2_Image14.jpg"/>
          <p:cNvPicPr>
            <a:picLocks noChangeAspect="1"/>
          </p:cNvPicPr>
          <p:nvPr/>
        </p:nvPicPr>
        <p:blipFill>
          <a:blip r:embed="rId2"/>
          <a:stretch>
            <a:fillRect/>
          </a:stretch>
        </p:blipFill>
        <p:spPr>
          <a:xfrm>
            <a:off x="6583680" y="2623699"/>
            <a:ext cx="4846320" cy="270788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1828800"/>
            <a:ext cx="8503920" cy="914400"/>
          </a:xfrm>
          <a:prstGeom prst="rect">
            <a:avLst/>
          </a:prstGeom>
          <a:noFill/>
        </p:spPr>
        <p:txBody>
          <a:bodyPr wrap="square" lIns="0" tIns="0" rIns="0" bIns="0">
            <a:spAutoFit/>
          </a:bodyPr>
          <a:lstStyle/>
          <a:p>
            <a:pPr algn="ctr">
              <a:defRPr sz="6400" b="1">
                <a:solidFill>
                  <a:srgbClr val="F8FAFC"/>
                </a:solidFill>
                <a:latin typeface="Segoe UI"/>
              </a:defRPr>
            </a:pPr>
            <a:r>
              <a:t>Thank You</a:t>
            </a:r>
          </a:p>
        </p:txBody>
      </p:sp>
      <p:sp>
        <p:nvSpPr>
          <p:cNvPr id="3" name="TextBox 2"/>
          <p:cNvSpPr txBox="1"/>
          <p:nvPr/>
        </p:nvSpPr>
        <p:spPr>
          <a:xfrm>
            <a:off x="1828800" y="3200400"/>
            <a:ext cx="8503920" cy="731520"/>
          </a:xfrm>
          <a:prstGeom prst="rect">
            <a:avLst/>
          </a:prstGeom>
          <a:noFill/>
        </p:spPr>
        <p:txBody>
          <a:bodyPr wrap="square" lIns="0" tIns="0" rIns="0" bIns="0">
            <a:spAutoFit/>
          </a:bodyPr>
          <a:lstStyle/>
          <a:p>
            <a:pPr algn="ctr">
              <a:defRPr sz="1800" b="0">
                <a:solidFill>
                  <a:srgbClr val="38BDF8"/>
                </a:solidFill>
                <a:latin typeface="Segoe UI"/>
              </a:defRPr>
            </a:pPr>
            <a:r>
              <a:t>"Quality is never an accident; it is always the result of intelligent effort."</a:t>
            </a:r>
          </a:p>
        </p:txBody>
      </p:sp>
      <p:sp>
        <p:nvSpPr>
          <p:cNvPr id="4" name="TextBox 3"/>
          <p:cNvSpPr txBox="1"/>
          <p:nvPr/>
        </p:nvSpPr>
        <p:spPr>
          <a:xfrm>
            <a:off x="1828800" y="4389120"/>
            <a:ext cx="8503920" cy="914400"/>
          </a:xfrm>
          <a:prstGeom prst="rect">
            <a:avLst/>
          </a:prstGeom>
          <a:noFill/>
        </p:spPr>
        <p:txBody>
          <a:bodyPr wrap="square" lIns="0" tIns="0" rIns="0" bIns="0">
            <a:spAutoFit/>
          </a:bodyPr>
          <a:lstStyle/>
          <a:p>
            <a:pPr algn="ctr">
              <a:defRPr sz="1400" b="0">
                <a:solidFill>
                  <a:srgbClr val="94A3B8"/>
                </a:solidFill>
                <a:latin typeface="Segoe UI"/>
              </a:defRPr>
            </a:pPr>
            <a:r>
              <a:t>Presented By: Tanya Gupta, Harsh Sahu, Kshitij Goel</a:t>
            </a:r>
            <a:br/>
            <a:r>
              <a:t>Graduate Engineer Trainees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